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iro"/>
              </a:defRPr>
            </a:pPr>
            <a:r>
              <a:t>مقدمة إلى MARS وأساسيات MIPS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A7F3D0"/>
                </a:solidFill>
                <a:latin typeface="Cairo"/>
              </a:defRPr>
            </a:pPr>
            <a:r>
              <a:t>Computer Architecture Lab — معمارية الحاسوب - عملي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8463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BF7D0"/>
                </a:solidFill>
                <a:latin typeface="Cairo"/>
              </a:rPr>
              <a:t>جامعة إبَّة — كلية الحاسوب وتقنية المعلومات</a:t>
            </a:r>
          </a:p>
          <a:p>
            <a:pPr algn="ctr"/>
            <a:r>
              <a:rPr sz="1200">
                <a:solidFill>
                  <a:srgbClr val="86EFAC"/>
                </a:solidFill>
                <a:latin typeface="Cairo"/>
              </a:rPr>
              <a:t>المحاضرة الأولى | ساعتان عملي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أهداف المحاضرة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iro"/>
              </a:defRPr>
            </a:pPr>
            <a:r>
              <a:t>بنهاية هذه المحاضرة، سيكون الطالب قادراً على: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5303520" cy="1920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  <a:latin typeface="Cairo"/>
              </a:defRPr>
            </a:pPr>
            <a:r>
              <a:t>  التعرف على بيئة MARS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فهم واجهة المحاكي ومكوناته: المحرر، المسجلات، الذاكرة، الإخراج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303520" cy="19202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Cairo"/>
              </a:defRPr>
            </a:pPr>
            <a:r>
              <a:t>  فهم هيكل برنامج MIPS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التمييز بين مقطع البيانات (.data) ومقطع النص (.text) والتسميات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03520" cy="192024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23359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B308"/>
                </a:solidFill>
                <a:latin typeface="Cairo"/>
              </a:defRPr>
            </a:pPr>
            <a:r>
              <a:t>  التعرف على المسجلات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معرفة أنواع المسجلات الـ 32 واستخدامات كل منها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303520" cy="1920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023359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Cairo"/>
              </a:defRPr>
            </a:pPr>
            <a:r>
              <a:t>  كتابة أول برنامج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استخدام System Calls للطباعة وإنهاء البرنامج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3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واجهة MARS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2651760" cy="2286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  <a:latin typeface="Cairo"/>
              </a:defRPr>
            </a:pPr>
            <a:r>
              <a:t>◉ محرر النصوص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كتابة كود MIPS مع تمييزSyntax Highlighting الألوان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───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F3: Assemble  |  F5: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645920"/>
            <a:ext cx="2651760" cy="2286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9" y="17373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Cairo"/>
              </a:defRPr>
            </a:pPr>
            <a:r>
              <a:t>◉ المسجلات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عرض قيم جميع المسجلات الـ 32 في الوقت الفعلي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───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F3: Assemble  |  F5: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651760" cy="2286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B308"/>
                </a:solidFill>
                <a:latin typeface="Cairo"/>
              </a:defRPr>
            </a:pPr>
            <a:r>
              <a:t>◉ الذاكرة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عرض محتويات Data Segment مع تحديث مباشر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───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F3: Assemble  |  F5: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1645920"/>
            <a:ext cx="2651760" cy="2286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73736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Cairo"/>
              </a:defRPr>
            </a:pPr>
            <a:r>
              <a:t>◉ الإخراج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نافذة Run I/O لعرض المخرجات وقراءة المدخلات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───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  <a:latin typeface="Cairo"/>
              </a:defRPr>
            </a:pPr>
            <a:r>
              <a:t>F3: Assemble  |  F5: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Cairo"/>
              </a:defRPr>
            </a:pPr>
            <a:r>
              <a:t>💡 اختصارات مهمة: F3 لتجميع البرنامج (Assemble)  •  F5 للتشغيل (Run)  •  F7 للتنفيذ خطوة بخطوة (Step)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>
                <a:solidFill>
                  <a:srgbClr val="475569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┌────────────────────────────────────────────────────┐</a:t>
            </a:r>
            <a:br/>
            <a:r>
              <a:t>│  File  Edit  Run  Tools  Help                      │</a:t>
            </a:r>
            <a:br/>
            <a:r>
              <a:t>├──────────────────────┬─────────────────────────────┤</a:t>
            </a:r>
            <a:br/>
            <a:r>
              <a:t>│  .data               │  Registers:                 │</a:t>
            </a:r>
            <a:br/>
            <a:r>
              <a:t>│  msg: .asciiz "Hi"  │  $zero = 0x00000000        │</a:t>
            </a:r>
            <a:br/>
            <a:r>
              <a:t>│  .text               │  $t0   = 0x00000000        │</a:t>
            </a:r>
            <a:br/>
            <a:r>
              <a:t>│  li $v0, 4           ├─────────────────────────────┤</a:t>
            </a:r>
            <a:br/>
            <a:r>
              <a:t>│  la $a0, msg         │  Memory:  0x10010000: 48.. │</a:t>
            </a:r>
            <a:br/>
            <a:r>
              <a:t>│  syscall             ├─────────────────────────────┤</a:t>
            </a:r>
            <a:br/>
            <a:r>
              <a:t>│                      │  Run I/O: Hello            │</a:t>
            </a:r>
            <a:br/>
            <a:r>
              <a:t>└──────────────────────┴─────────────────────────────┘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4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هيكل برنامج MIPS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2286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5803D"/>
                </a:solidFill>
                <a:latin typeface="Cairo"/>
              </a:defRPr>
            </a:pPr>
            <a:r>
              <a:t>  🗂️ مقطع البيانات (.data)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تعريف المتغيرات والثوابت والسلاسل النصية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.data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msg:  .asciiz "Hello World"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num:  .word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Cairo"/>
              </a:defRPr>
            </a:pPr>
            <a:r>
              <a:t>  💻 مقطع النص (.text)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التعليمات البرمجية التي ينفذها المعالج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.text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main: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li $v0, 4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la $a0, msg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syscall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5303520" cy="21031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79"/>
            <a:ext cx="50292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A8A04"/>
                </a:solidFill>
                <a:latin typeface="Cairo"/>
              </a:defRPr>
            </a:pPr>
            <a:r>
              <a:t>  🏷️ التسميات (Labels)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أسماء تشير إلى عناوين في الذاكرة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تنتهي دائماً بـ :  مثل  main:  loop:  exit: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303520" cy="2103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97679"/>
            <a:ext cx="50292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69A1"/>
                </a:solidFill>
                <a:latin typeface="Cairo"/>
              </a:defRPr>
            </a:pPr>
            <a:r>
              <a:t>  ⚙️ العلاقة بين القسمين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la $a0, msg    ←  msg  معرف في .data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syscall         ←  يستخدم $v0 و $a0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li $v0, 10     ←  إنهاء البرنامج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5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مسجلات MIPS الـ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iro"/>
              </a:defRPr>
            </a:pPr>
            <a:r>
              <a:t>ذاكرة سريعة جداً داخل المعالج — كل مسجل 32 بت (4 بايت)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371600" cy="50292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993392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iro"/>
              </a:defRPr>
            </a:pPr>
            <a:r>
              <a:t>المسجل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920240"/>
            <a:ext cx="1188720" cy="50292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993392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iro"/>
              </a:defRPr>
            </a:pPr>
            <a:r>
              <a:t>الاسم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920240"/>
            <a:ext cx="3200400" cy="50292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99339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iro"/>
              </a:defRPr>
            </a:pPr>
            <a:r>
              <a:t>الاستخدام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3200400" cy="502920"/>
          </a:xfrm>
          <a:prstGeom prst="rect">
            <a:avLst/>
          </a:prstGeom>
          <a:solidFill>
            <a:srgbClr val="15803D"/>
          </a:solidFill>
          <a:ln w="63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9339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iro"/>
              </a:defRPr>
            </a:pPr>
            <a:r>
              <a:t>ملاحظات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4231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496312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$zero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42316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2496312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صفر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42316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49631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قيمته دائماً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2316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49631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التصفير والمقارنة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92608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2999232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$t0-$t7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926080"/>
            <a:ext cx="11887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2999232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Temporary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926080"/>
            <a:ext cx="32004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299923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قيم مؤقتة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926080"/>
            <a:ext cx="32004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99923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لا تُحفظ عبر الدوال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4290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19" y="3502152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$s0-$s7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342900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03120" y="3502152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Saved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4290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350215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قيم محفوظة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4290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50215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تُحفظ عبر الدوال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931920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19" y="4005072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$a0-$a3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3931920"/>
            <a:ext cx="11887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0" y="4005072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Argument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931920"/>
            <a:ext cx="32004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400507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معاملات الدوال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931920"/>
            <a:ext cx="32004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00507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تمرير الباراميترات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4348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19" y="4507992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$v0-$v1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0" y="443484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03120" y="4507992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Value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44348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450799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القيم المعادة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4348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450799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نتائج + رقم syscall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937759"/>
            <a:ext cx="1371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19" y="5010912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$sp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0" y="4937759"/>
            <a:ext cx="118872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0" y="5010912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Stack Ptr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4937759"/>
            <a:ext cx="32004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0" y="501091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مؤشر المكدس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4937759"/>
            <a:ext cx="32004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5010912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أعلى المكدس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5440679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19" y="5513831"/>
            <a:ext cx="11887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$ra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0" y="5440679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0" y="5513831"/>
            <a:ext cx="100584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Return Addr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5440679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0" y="5513831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عنوان العودة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5440679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5513831"/>
            <a:ext cx="30175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Cairo"/>
              </a:defRPr>
            </a:pPr>
            <a:r>
              <a:t>jr $ra للرجوع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iro"/>
              </a:defRPr>
            </a:pPr>
            <a:r>
              <a:t>💡 تذكير: استخدم $t0-$t9 للقيم المؤقتة • $s0-$s7 للقيم المحفوظة • $a0-$a3 للمعاملات • $v0 لرقم syscall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6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System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iro"/>
              </a:defRPr>
            </a:pPr>
            <a:r>
              <a:t>واجهة بين البرنامج ونظام التشغيل — 3 خطوات فقط: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  <a:latin typeface="Cairo"/>
              </a:defRPr>
            </a:pPr>
            <a:r>
              <a:t>li $v0, N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اختر رقم الخدمة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4592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Cairo"/>
              </a:defRPr>
            </a:pPr>
            <a:r>
              <a:t>la $a0, X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جهّز المعامل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34747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AB308"/>
                </a:solidFill>
                <a:latin typeface="Cairo"/>
              </a:defRPr>
            </a:pPr>
            <a:r>
              <a:t>syscall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نفّذ الخدمة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83280"/>
            <a:ext cx="109728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الخدمة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3383280"/>
            <a:ext cx="256032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342900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الوظيفة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383280"/>
            <a:ext cx="320040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34290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المعاملات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3383280"/>
            <a:ext cx="320040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4290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النتيجة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1097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85616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3749040"/>
            <a:ext cx="2560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378561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طباعة عدد صحيح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374904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378561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$a0 = العدد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74904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378561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14800"/>
            <a:ext cx="109728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51376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4114800"/>
            <a:ext cx="256032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83080" y="415137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طباعة سلسلة نصية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4114800"/>
            <a:ext cx="320040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399" y="415137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$a0 = عنوان النص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4114800"/>
            <a:ext cx="320040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415137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480560"/>
            <a:ext cx="1097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517136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4480560"/>
            <a:ext cx="2560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83080" y="451713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قراءة عدد صحيح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79" y="448056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399" y="451713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448056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451713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العدد في $v0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846320"/>
            <a:ext cx="109728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882896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4846320"/>
            <a:ext cx="256032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83080" y="488289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قراءة سلسلة نصية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79" y="4846320"/>
            <a:ext cx="320040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399" y="488289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$a0 = عنوان, $a1 = طول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4846320"/>
            <a:ext cx="3200400" cy="347472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3800" y="488289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5212080"/>
            <a:ext cx="10972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248656"/>
            <a:ext cx="10058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37360" y="5212080"/>
            <a:ext cx="2560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83080" y="524865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خروج من البرنامج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79" y="521208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399" y="524865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79" y="521208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43800" y="524865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7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تطبيق عملي: Hello World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5303520" cy="2286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803D"/>
                </a:solidFill>
                <a:latin typeface="Cairo"/>
              </a:defRPr>
            </a:pPr>
            <a:r>
              <a:t>  📋 خطوات كتابة البرنامج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1. MARS → File → New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2. اكتب .data مع النص: msg: .asciiz "Hello"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3. اكتب .text مع main: li $v0,4 ... syscall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4. Assemble (F3) → Run (F5)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5. شاهد النتيجة في Run I/O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0352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502920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E2E8F0"/>
                </a:solidFill>
                <a:latin typeface="Consolas"/>
              </a:defRPr>
            </a:pPr>
            <a:r>
              <a:t># =======================</a:t>
            </a:r>
            <a:br/>
            <a:r>
              <a:t>#  Hello World in MIPS</a:t>
            </a:r>
            <a:br/>
            <a:r>
              <a:t># =======================</a:t>
            </a:r>
            <a:br/>
            <a:r>
              <a:t>.data</a:t>
            </a:r>
            <a:br/>
            <a:r>
              <a:t>msg:  .asciiz "Hello World!"</a:t>
            </a:r>
            <a:br/>
            <a:r>
              <a:t>nl:   .asciiz "\n"</a:t>
            </a:r>
            <a:br/>
            <a:r>
              <a:t>.text</a:t>
            </a:r>
            <a:br/>
            <a:r>
              <a:t>main:</a:t>
            </a:r>
            <a:br/>
            <a:r>
              <a:t>  li $v0, 4      # print_str</a:t>
            </a:r>
            <a:br/>
            <a:r>
              <a:t>  la $a0, msg    # address</a:t>
            </a:r>
            <a:br/>
            <a:r>
              <a:t>  syscall</a:t>
            </a:r>
            <a:br/>
            <a:r>
              <a:t>  li $v0, 10     # exit</a:t>
            </a:r>
            <a:br/>
            <a:r>
              <a:t>  syscall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303520" cy="15544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  <a:latin typeface="Cairo"/>
              </a:defRPr>
            </a:pPr>
            <a:r>
              <a:t>  🐛 تصحيح الأخطاء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استخدم Step (F7) لتنفيذ التعليمات خطوة بخطوة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راجع تغير قيم المسجلات والذاكرة أثناء التنفيذ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60720"/>
            <a:ext cx="5303520" cy="7315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521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A8A04"/>
                </a:solidFill>
                <a:latin typeface="Cairo"/>
              </a:defRPr>
            </a:pPr>
            <a:r>
              <a:t>✅ المخرجات المتوقعة:  Hello World!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8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نشاط عملي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10789920" cy="13716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A8A04"/>
                </a:solidFill>
                <a:latin typeface="Cairo"/>
              </a:defRPr>
            </a:pPr>
            <a:r>
              <a:t>  ✍️ المطلوب: اكتب برنامج MIPS يطبع بطاقة تعريفية</a:t>
            </a:r>
          </a:p>
          <a:p>
            <a:pPr>
              <a:spcBef>
                <a:spcPts val="200"/>
              </a:spcBef>
              <a:defRPr sz="1200">
                <a:solidFill>
                  <a:srgbClr val="0F172A"/>
                </a:solidFill>
                <a:latin typeface="Cairo"/>
              </a:defRPr>
            </a:pPr>
            <a:r>
              <a:t>طباعة: الاسم • التخصص • الرقم الجامعي • الجامعة — مع إطار (=====) حول البطاقة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5303520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50292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86EFAC"/>
                </a:solidFill>
                <a:latin typeface="Consolas"/>
              </a:defRPr>
            </a:pPr>
            <a:r>
              <a:t># المخرجات المتوقعة</a:t>
            </a:r>
            <a:br/>
            <a:r>
              <a:t># =========================</a:t>
            </a:r>
            <a:br/>
            <a:r>
              <a:t># الاسم: أحمد علي</a:t>
            </a:r>
            <a:br/>
            <a:r>
              <a:t># التخصص: علوم حاسوب</a:t>
            </a:r>
            <a:br/>
            <a:r>
              <a:t># الرقم الجامعي: 202412345</a:t>
            </a:r>
            <a:br/>
            <a:r>
              <a:t># الجامعة: جامعة إبَّة</a:t>
            </a:r>
            <a:br/>
            <a:r>
              <a:t># =========================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5303520" cy="2560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50292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803D"/>
                </a:solidFill>
                <a:latin typeface="Cairo"/>
              </a:defRPr>
            </a:pPr>
            <a:r>
              <a:t>  💡 تلميحات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استخدم .asciiz لكل سطر نصي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استخدم li $v0, 4 + la $a0, label لكل سطر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أنهِ كل سطر بـ \n داخل النص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أنهِ البرنامج بـ li $v0, 10 + syscall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🔥 للتوسع: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أضف إطاراً حول البطاقة باستخدام 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9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أخطاء شائعة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Cairo"/>
              </a:defRPr>
            </a:pPr>
            <a:r>
              <a:t>  ⛔ نسيان .data أو .text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يجب تحديد المقطع قبل كتابة الكود — المجمّع لا يعرف أين يضع البيانات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303520" cy="1828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8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800C"/>
                </a:solidFill>
                <a:latin typeface="Cairo"/>
              </a:defRPr>
            </a:pPr>
            <a:r>
              <a:t>  ⛔ الخلط بين $a0 و $v0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$v0 = رقم الخدمة (4, 5, 10) • $a0 = المعامل (النص, العدد)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0352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7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Cairo"/>
              </a:defRPr>
            </a:pPr>
            <a:r>
              <a:t>  ⛔ نسيان syscall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تحديد $v0 و $a0 بدون syscall = لا شيء يحدث!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749039"/>
            <a:ext cx="5303520" cy="1828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8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7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800C"/>
                </a:solidFill>
                <a:latin typeface="Cairo"/>
              </a:defRPr>
            </a:pPr>
            <a:r>
              <a:t>  ⛔ عدم إنهاء البرنامج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بدون li $v0, 10 + syscall يستمر MARS في التنفيذ ويتجمد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803D"/>
                </a:solidFill>
                <a:latin typeface="Cairo"/>
              </a:rPr>
              <a:t>✅ قاعدة ذهبية: li $v0, 10 → syscall    —   اجعلها عادة في نهاية كل برنامج!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10 / 11</a:t>
            </a:r>
          </a:p>
        </p:txBody>
      </p:sp>
      <p:pic>
        <p:nvPicPr>
          <p:cNvPr id="6" name="Picture 5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01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</a:t>
            </a:r>
            <a:br/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ملخص المحاضرة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7472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5803D"/>
                </a:solidFill>
                <a:latin typeface="Consolas"/>
              </a:defRPr>
            </a:pPr>
            <a: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  <a:latin typeface="Cairo"/>
              </a:defRPr>
            </a:pPr>
            <a:r>
              <a:t>مسجلاً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45920"/>
            <a:ext cx="3474720" cy="1828800"/>
          </a:xfrm>
          <a:prstGeom prst="roundRect">
            <a:avLst/>
          </a:prstGeom>
          <a:solidFill>
            <a:srgbClr val="E0F2FE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8288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EA5E9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  <a:latin typeface="Cairo"/>
              </a:defRPr>
            </a:pPr>
            <a:r>
              <a:t>System 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347472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82880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AB30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  <a:latin typeface="Cairo"/>
              </a:defRPr>
            </a:pPr>
            <a:r>
              <a:t>مقطعين: .data / .text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6858000" cy="2286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A8A04"/>
                </a:solidFill>
                <a:latin typeface="Cairo"/>
              </a:defRPr>
            </a:pPr>
            <a:r>
              <a:t>  📝 الواجب المنزلي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اكتب برنامج MIPS يطبع بطاقة تعريفية تحتوي على: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الاسم  •  التخصص  •  الرقم الجامعي  •  الجامعة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مع إطار (=====) حول البطاقة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Cairo"/>
              </a:defRPr>
            </a:pPr>
            <a:r>
              <a:t>📅 تسليم الواجب: بداية المحاضرة القادمة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840480"/>
            <a:ext cx="3749039" cy="2286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9319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  <a:latin typeface="Cairo"/>
              </a:defRPr>
            </a:pPr>
            <a:r>
              <a:t>  📌 استعداد للمحاضرة 2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العمليات الحسابية الأساسية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add / sub / addi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قراءة وطباعة الأرقام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آلة حاسبة بسيطة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iro"/>
              </a:defRPr>
            </a:pPr>
            <a:r>
              <a:t>أسئلة؟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502920"/>
          </a:xfrm>
          <a:prstGeom prst="roundRect">
            <a:avLst/>
          </a:prstGeom>
          <a:solidFill>
            <a:srgbClr val="1A6B3D"/>
          </a:solidFill>
          <a:ln>
            <a:solidFill>
              <a:srgbClr val="2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913632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CFCE7"/>
                </a:solidFill>
                <a:latin typeface="Cairo"/>
              </a:defRPr>
            </a:pPr>
            <a:r>
              <a:t>❓ لماذا نحتاج إلى لغة التجميع إذا كان لدينا Python و C++؟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480560"/>
            <a:ext cx="7589520" cy="502920"/>
          </a:xfrm>
          <a:prstGeom prst="roundRect">
            <a:avLst/>
          </a:prstGeom>
          <a:solidFill>
            <a:srgbClr val="1A6B3D"/>
          </a:solidFill>
          <a:ln>
            <a:solidFill>
              <a:srgbClr val="228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4553712"/>
            <a:ext cx="7223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DCFCE7"/>
                </a:solidFill>
                <a:latin typeface="Cairo"/>
              </a:defRPr>
            </a:pPr>
            <a:r>
              <a:t>❓ كيف يختلف برنامج MIPS عن برنامج C++ من حيث التنفيذ؟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212080"/>
            <a:ext cx="6675120" cy="640080"/>
          </a:xfrm>
          <a:prstGeom prst="roundRect">
            <a:avLst/>
          </a:prstGeom>
          <a:solidFill>
            <a:srgbClr val="1A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5303520"/>
            <a:ext cx="6309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7F3D0"/>
                </a:solidFill>
                <a:latin typeface="Cairo"/>
              </a:defRPr>
            </a:pPr>
            <a:r>
              <a:t>🧮 المحاضرة القادمة: العمليات الحسابية الأساسية — add, sub, addi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