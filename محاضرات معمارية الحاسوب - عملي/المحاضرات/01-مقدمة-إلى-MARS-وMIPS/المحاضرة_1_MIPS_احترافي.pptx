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مرحباً بالطلاب في المحاضرة الأولى لمادة معمارية الحاسوب - عملي.</a:t>
            </a:r>
          </a:p>
          <a:p>
            <a:r>
              <a:t>نتعرف اليوم على بيئة MARS ولغة التجميع MIPS.</a:t>
            </a:r>
          </a:p>
          <a:p>
            <a:r>
              <a:t>المتطلبات القبلية: النظام الثنائي، تمثيل البيانات، مكونات الحاسوب.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أؤكد على الأهداف السبعة.</a:t>
            </a:r>
          </a:p>
          <a:p>
            <a:r>
              <a:t>المحاضرة تركز على الجانب العملي التطبيقي.</a:t>
            </a:r>
          </a:p>
          <a:p>
            <a:r>
              <a:t>سنبدأ من الصفر حتى كتابة برنامج كامل.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هذا هو هيكل المحاضرة الكامل.</a:t>
            </a:r>
          </a:p>
          <a:p>
            <a:r>
              <a:t>سننتقل بين الأقسام بالترتيب.</a:t>
            </a:r>
          </a:p>
          <a:p>
            <a:r>
              <a:t>الوقت التقريبي لكل قسم مذكور.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نبدأ الآن بقسم إعداد بيئة العمل.</a:t>
            </a:r>
          </a:p>
          <a:p>
            <a:r>
              <a:t>سنتعرف على MARS، لماذا نستخدمه، وكيف نثبته.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MARS هي الأداة الأساسية في هذا المقرر.</a:t>
            </a:r>
          </a:p>
          <a:p>
            <a:r>
              <a:t>صممها Dr. Pete Sanderson و Kenneth Vollmar.</a:t>
            </a:r>
          </a:p>
          <a:p>
            <a:r>
              <a:t>تستخدم في جامعات عالمية لتدريس معمارية الحاسوب.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MARS هو الخيار الأمثل لهذا المقرر.</a:t>
            </a:r>
          </a:p>
          <a:p>
            <a:r>
              <a:t>سيمكننا من رؤية كل ما يحدث داخل المعالج.</a:t>
            </a:r>
          </a:p>
          <a:p>
            <a:r>
              <a:t>هذا الفهم العميق يساعد في بناء أساس قوي.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تأكد من أن جميع الطلاب قاموا بتثبيت Java قبل المحاضرة.</a:t>
            </a:r>
          </a:p>
          <a:p>
            <a:r>
              <a:t>MARS هو ملف JAR واحد —只需要 تنزيله وتشغيله.</a:t>
            </a:r>
          </a:p>
          <a:p>
            <a:r>
              <a:t>يمكن وضعه على فلاش ميموري واستخدامه بدون تثبيت.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أشرح كل خطوة على جهاز العرض.</a:t>
            </a:r>
          </a:p>
          <a:p>
            <a:r>
              <a:t>MARS هو ملف JAR واحد فقط — بسيط وسهل.</a:t>
            </a:r>
          </a:p>
          <a:p>
            <a:r>
              <a:t>يمكن تشغيله مباشرة بالنقر المزدوج أو باستخدام java -jar Mars.jar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أفضل طريقة هي الطريقة الأولى (النقر المزدوج).</a:t>
            </a:r>
          </a:p>
          <a:p>
            <a:r>
              <a:t>إذا واجه الطلاب مشاكل، استخدم الطريقة الثانية.</a:t>
            </a:r>
          </a:p>
          <a:p>
            <a:r>
              <a:t>تأكد من تثبيت Java 8 أو أحدث.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أشر إلى كل جزء من الواجهة على جهاز العرض.</a:t>
            </a:r>
          </a:p>
          <a:p>
            <a:r>
              <a:t>الطلاب يرون MARS لأول مرة — اشرح ببطء.</a:t>
            </a:r>
          </a:p>
          <a:p>
            <a:r>
              <a:t>لا بأس إذا شعروا بالارتباك — سنعتاد عليها.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الآن سنقوم بجولة تفصيلية في كل جزء من واجهة MARS.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المحرر هو المكان الأساسي للعمل.</a:t>
            </a:r>
          </a:p>
          <a:p>
            <a:r>
              <a:t>أظهر للطلاب كيف يبدو الكود في المحرر.</a:t>
            </a:r>
          </a:p>
          <a:p>
            <a:r>
              <a:t>اشرح معنى الترميز اللوني.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النافذة هي أقوى أداة تعليمية في MARS.</a:t>
            </a:r>
          </a:p>
          <a:p>
            <a:r>
              <a:t>شجع الطلاب على استخدام Step ومشاهدة تغير المسجلات.</a:t>
            </a:r>
          </a:p>
          <a:p>
            <a:r>
              <a:t>هذا يبني الفهم العميق لكيفية عمل المعالج.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نافذة الذاكرة والخرج: الأدوات الأساسية لمراقبة البرنامج.</a:t>
            </a:r>
          </a:p>
          <a:p>
            <a:r>
              <a:t>في المحاضرات القادمة سنستخدمها بكثرة.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أهم زرين للتعلم: Assemble (F3) و Step (F7).</a:t>
            </a:r>
          </a:p>
          <a:p>
            <a:r>
              <a:t>Step ينفذ تعليمة واحدة — يمكننا رؤية كل تغير.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ندخل الآن في قلب الموضوع — كيف نكتب برنامج MIPS.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هذا أهم مفهوم في المحاضرة.</a:t>
            </a:r>
          </a:p>
          <a:p>
            <a:r>
              <a:t>شبه .data بجدول بيانات و .text بقائمة التعليمات.</a:t>
            </a:r>
          </a:p>
          <a:p>
            <a:r>
              <a:t>المعالج يقرأ من .text وينفذ.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احفظ هذه المسجلات — سنستخدمها في كل محاضرة.</a:t>
            </a:r>
          </a:p>
          <a:p>
            <a:r>
              <a:t>$v0 و $a0 هما الأكثر استخداماً في المحاضرة الأولى.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اشرح كل syscall بالتفصيل.</a:t>
            </a:r>
          </a:p>
          <a:p>
            <a:r>
              <a:t>أهمها في هذه المحاضرة: 4 (طباعة) و 10 (خروج).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هذا هو دورة حياة تنفيذ التعليمات (Instruction Cycle).</a:t>
            </a:r>
          </a:p>
          <a:p>
            <a:r>
              <a:t>في المحاضرات القادمة سنتعمق في هذه الدورة.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ننتقل إلى التطبيق العملي — أول برنامج.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انسخ الكود في MARS واشرح كل سطر.</a:t>
            </a:r>
          </a:p>
          <a:p>
            <a:r>
              <a:t>أشر إلى أن msg معرف في .data ويستخدم في .text.</a:t>
            </a:r>
          </a:p>
          <a:p>
            <a:r>
              <a:t>هذا يربط القسمين معاً.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أفضل طريقة للتعلم: استخدم Step.</a:t>
            </a:r>
          </a:p>
          <a:p>
            <a:r>
              <a:t>أظهر للطلاب كيف تتغير قيمة $v0 و $a0.</a:t>
            </a:r>
          </a:p>
          <a:p>
            <a:r>
              <a:t>أظهر نافذة المسجلات وهي تتغير.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التصحيح مهارة أساسية — علمها للطلاب منذ البداية.</a:t>
            </a:r>
          </a:p>
          <a:p>
            <a:r>
              <a:t>في المحاضرات القادمة سنصبح محترفين في التصحيح.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حان دوركم لتطبيق ما تعلمتموه.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أعط الطلاب 15 دقيقة لحل التمرين.</a:t>
            </a:r>
          </a:p>
          <a:p>
            <a:r>
              <a:t>تجول بينهم وساعد من يحتاج.</a:t>
            </a:r>
          </a:p>
          <a:p>
            <a:r>
              <a:t>هذا التمرين يختبر فهمهم لـ syscall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الأخطاء طبيعية جداً في البداية.</a:t>
            </a:r>
          </a:p>
          <a:p>
            <a:r>
              <a:t>شجع الطلاب على عدم الإحباط — كلها أخطاء شائعة.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خصص 5-10 دقائق للمناقشة.</a:t>
            </a:r>
          </a:p>
          <a:p>
            <a:r>
              <a:t>هذه الأسئلة تختبر الفهم العميق وليس الحفظ.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لخص النقاط الخمس الأساسية.</a:t>
            </a:r>
          </a:p>
          <a:p>
            <a:r>
              <a:t>تأكد من أن جميع الطلاب فهموا المفاهيم قبل الانتقال للواجب.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الواجب بسيط لكنه يختبر جميع مفاهيم المحاضرة.</a:t>
            </a:r>
          </a:p>
          <a:p>
            <a:r>
              <a:t>شجع الطلاب على استخدام Step للتحقق من عمل برنامجهم.</a:t>
            </a:r>
          </a:p>
          <a:p>
            <a:r>
              <a:t>أذكرهم بتثبيت MARS على أجهزتهم الشخصية.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73152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7F3D0"/>
                </a:solidFill>
                <a:latin typeface="Cairo"/>
              </a:defRPr>
            </a:pPr>
            <a:r>
              <a:t>CS 221 — معمارية الحاسوب - عملي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iro"/>
              </a:defRPr>
            </a:pPr>
            <a:r>
              <a:t>المحاضرة الأولى</a:t>
            </a:r>
            <a:br/>
            <a:r>
              <a:t>مقدمة إلى MARS وأساسيات MIPS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BF7D0"/>
                </a:solidFill>
                <a:latin typeface="Cairo"/>
              </a:defRPr>
            </a:pPr>
            <a:r>
              <a:t>د. [اسم المحاضر]  •  الفصل الدراسي الأول 2024-2025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86EFAC"/>
                </a:solidFill>
                <a:latin typeface="Cairo"/>
              </a:defRPr>
            </a:pPr>
            <a:r>
              <a:t>جامعة إبَّة — كلية الحاسوب وتقنية المعلومات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2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أهداف المحاضرة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في نهاية هذه المحاضرة، سيكون الطالب قادراً على: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1325880"/>
            <a:ext cx="320040" cy="32004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34416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3258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airo"/>
              </a:defRPr>
            </a:pPr>
            <a:r>
              <a:t>التعرف على بيئة MARS ومكوناتها الأساسية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84708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18288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airo"/>
              </a:defRPr>
            </a:pPr>
            <a:r>
              <a:t>فهم هيكل برنامج MIPS وأقسامه (.data / .text)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2331720"/>
            <a:ext cx="320040" cy="32004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35000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33172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airo"/>
              </a:defRPr>
            </a:pPr>
            <a:r>
              <a:t>معرفة أنواع المسجلات الـ 32 واستخداماتها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2834639"/>
            <a:ext cx="320040" cy="32004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852927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834639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airo"/>
              </a:defRPr>
            </a:pPr>
            <a:r>
              <a:t>استخدام System Calls للطباعة والإدخال والخروج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" y="3337560"/>
            <a:ext cx="320040" cy="32004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35584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33756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airo"/>
              </a:defRPr>
            </a:pPr>
            <a:r>
              <a:t>كتابة وتجميع وتشغيل أول برنامج MIPS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3840480"/>
            <a:ext cx="320040" cy="32004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85876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8404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airo"/>
              </a:defRPr>
            </a:pPr>
            <a:r>
              <a:t>استخدام Debugger لتتبع التنفيذ خطوة بخطوة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" y="4343400"/>
            <a:ext cx="320040" cy="320040"/>
          </a:xfrm>
          <a:prstGeom prst="ellipse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36168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343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Cairo"/>
              </a:defRPr>
            </a:pPr>
            <a:r>
              <a:t>ربط المفاهيم النظرية بالتطبيق العملي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3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جدول المحتويات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مدة المحاضرة: ساعتان (120 دقيقة)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716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A8A04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3258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532D"/>
                </a:solidFill>
                <a:latin typeface="Cairo"/>
              </a:defRPr>
            </a:pPr>
            <a:r>
              <a:t>إعداد بيئة العمل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6002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iro"/>
              </a:defRPr>
            </a:pPr>
            <a:r>
              <a:t>تحميل وتثبيت MARS — متطلبات التشغيل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057400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A8A04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103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532D"/>
                </a:solidFill>
                <a:latin typeface="Cairo"/>
              </a:defRPr>
            </a:pPr>
            <a:r>
              <a:t>التعرف على واجهة MARS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37744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iro"/>
              </a:defRPr>
            </a:pPr>
            <a:r>
              <a:t>جولة في المحرر، المسجلات، الذاكرة، الإخراج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834639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A8A04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880359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532D"/>
                </a:solidFill>
                <a:latin typeface="Cairo"/>
              </a:defRPr>
            </a:pPr>
            <a:r>
              <a:t>هيكل برنامج MIPS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54679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iro"/>
              </a:defRPr>
            </a:pPr>
            <a:r>
              <a:t>قسم البيانات (.data) وقسم النص (.text)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11879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033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A8A04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657599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532D"/>
                </a:solidFill>
                <a:latin typeface="Cairo"/>
              </a:defRPr>
            </a:pPr>
            <a:r>
              <a:t>المسجلات و System Calls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93192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iro"/>
              </a:defRPr>
            </a:pPr>
            <a:r>
              <a:t>أنواع المسجلات وكيفية استخدام syscall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38912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48055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A8A04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434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532D"/>
                </a:solidFill>
                <a:latin typeface="Cairo"/>
              </a:defRPr>
            </a:pPr>
            <a:r>
              <a:t>أول برنامج MIPS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709159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iro"/>
              </a:defRPr>
            </a:pPr>
            <a:r>
              <a:t>كتابة Hello World — تجميع — تشغيل — Debug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66360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2578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A8A04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212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532D"/>
                </a:solidFill>
                <a:latin typeface="Cairo"/>
              </a:defRPr>
            </a:pPr>
            <a:r>
              <a:t>نشاط عملي + واجب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548640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iro"/>
              </a:defRPr>
            </a:pPr>
            <a:r>
              <a:t>تطبيق: بطاقة تعريفية + أسئلة مناقشة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Cairo"/>
              </a:defRPr>
            </a:pPr>
            <a:r>
              <a:t>⏱ 10 د  │  15 د  │  15 د  │  15 د  │  25 د  │  30 د  │  10 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iro"/>
              </a:defRPr>
            </a:pPr>
            <a:r>
              <a:t>إعداد بيئة العمل</a:t>
            </a:r>
            <a:br/>
            <a:r>
              <a:t>Environment Setup</a:t>
            </a:r>
          </a:p>
        </p:txBody>
      </p:sp>
      <p:pic>
        <p:nvPicPr>
          <p:cNvPr id="4" name="Picture 3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9319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5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ما هي بيئة MARS؟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MIPS Assembler and Runtime Simulator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88720"/>
            <a:ext cx="5303520" cy="201168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261872"/>
            <a:ext cx="54864" cy="18653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98448"/>
            <a:ext cx="4937759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التعريف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MARS هو محاكي تعليمي لمعالج MIPS صمم خصيصاً لتدريس معمارية الحاسوب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يجمع بين محرر نصوص ومجمّع (Assembler) ومحاكي (Simulator) ومصحح أخطاء (Debugger)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303520" cy="256032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61872"/>
            <a:ext cx="54864" cy="2414015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4937759" cy="234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لماذا MARS؟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مجاني ومفتوح المصدر — لا يحتاج ترخيص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يعمل على Windows, macOS, Linux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واجهة بسيطة مناسبة للتعليم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يحتوي على Debugger قوي لتتبع التنفيذ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يدعم جميع تعليمات MIPS الأساسية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10972800" cy="256032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47872"/>
            <a:ext cx="54864" cy="241401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584448"/>
            <a:ext cx="10607040" cy="234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مكونات MARS الرئيسية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محرر نصوص (Editor): كتابة الكود مع تمييز الألوان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مجمّع (Assembler): تحويل الكود إلى لغة الآلة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محاكي (Simulator): تنفيذ التعليمات ومحاكاة المعالج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مصحح أخطاء (Debugger): تنفيذ خطوة بخطوة وتتبع Registers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نافذة الذاكرة: عرض وتتبع محتويات الذاكرة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6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لماذا نستخدم MARS في هذا المقرر؟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3474720" cy="201168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353312"/>
            <a:ext cx="54864" cy="18653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389888"/>
            <a:ext cx="310896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🎯 تعليمي بحت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مصمم خصيصاً للتعليم — ليس للاستخدام الإنتاجي المعقد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280160"/>
            <a:ext cx="3474720" cy="201168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353312"/>
            <a:ext cx="54864" cy="18653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389888"/>
            <a:ext cx="310896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🔍 تصحيح أخطاء مرئي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يمكنك رؤية تغير المسجلات والذاكرة أثناء تنفيذ كل تعليمة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280160"/>
            <a:ext cx="3474720" cy="20116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353312"/>
            <a:ext cx="54864" cy="18653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9" y="1389888"/>
            <a:ext cx="310896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EAB308"/>
                </a:solidFill>
                <a:latin typeface="Cairo"/>
              </a:defRPr>
            </a:pPr>
            <a:r>
              <a:t>🧪 محاكاة دقيقة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يحاكي معالج MIPS بدقة — نفس سلوك المعالج الحقيقي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3474720" cy="201168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730752"/>
            <a:ext cx="54864" cy="18653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767328"/>
            <a:ext cx="310896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💻 متعدد المنصات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يعمل على Windows و macOS و Linux بدون مشاكل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657600"/>
            <a:ext cx="3474720" cy="201168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730752"/>
            <a:ext cx="54864" cy="18653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767328"/>
            <a:ext cx="310896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📚 مرجع معتمد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مستخدم في جامعات عالمية مع كتاب Patterson &amp; Hennessy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657600"/>
            <a:ext cx="3474720" cy="20116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730752"/>
            <a:ext cx="54864" cy="18653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19" y="3767328"/>
            <a:ext cx="310896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EAB308"/>
                </a:solidFill>
                <a:latin typeface="Cairo"/>
              </a:defRPr>
            </a:pPr>
            <a:r>
              <a:t>🆓 مجاني تماماً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بدون رسوم أو تراخيص — يمكن للطلاب تثبيته على أجهزتهم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7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متطلبات تثبيت MARS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قبل البدء، تأكد من توفر المتطلبات التالية: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5303520" cy="2286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53312"/>
            <a:ext cx="54864" cy="21396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389888"/>
            <a:ext cx="49377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💻 متطلبات النظام (System Requirements)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نظام التشغيل: Windows 7/10/11 أو macOS 10.13+ أو Linux (أي توزيعة)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المعالج: أي معالج x86 أو x64 (يعمل على جميع المعالجات الحديثة)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الذاكرة: 256 MB RAM كحد أدنى (1 GB موصى به)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المساحة التخزينية: 50 MB فقط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303520" cy="22860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53312"/>
            <a:ext cx="54864" cy="21396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89888"/>
            <a:ext cx="49377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☕ متطلبات البرمجيات (Software Requirements)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Java Runtime Environment (JRE) — الإصدار 8 أو أحدث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MARS يعمل على Java — يجب تثبيت Java أولاً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متصفح إنترنت لتحميل البرنامج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✅ التحقق من Java:  java -version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72800" cy="182880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13632"/>
            <a:ext cx="54864" cy="168249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950208"/>
            <a:ext cx="1060704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📥 روابط التحميل (Download Links)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Java: https://www.java.com/download/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MARS: https://courses.missouristate.edu/kenvollmar/mars/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نسخة محمولة (Portable) — لا تحتاج تثبيت، تشغيل مباشر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8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خطوات تحميل MARS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اتبع الخطوات التالية بالترتيب: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10972800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53312"/>
            <a:ext cx="54864" cy="8595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389888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الخطوة 1: تأكد من تثبيت Java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افتح Terminal وأدخل java -version</a:t>
            </a:r>
            <a:br/>
            <a:r>
              <a:t>إذا لم يكن مثبتاً → java.com → Download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468880"/>
            <a:ext cx="109728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542032"/>
            <a:ext cx="54864" cy="8595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578608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الخطوة 2: افتح موقع MARS الرسمي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courses.missouristate.edu/kenvollmar/mars/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10972800" cy="10058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730752"/>
            <a:ext cx="54864" cy="8595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767328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الخطوة 3: اختر الإصدار المناسب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انقر على رابط التحميل (Mars_4_5.jar أو أحدث)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46320"/>
            <a:ext cx="1097280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919472"/>
            <a:ext cx="54864" cy="8595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956048"/>
            <a:ext cx="10607040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الخطوة 4: احفظ الملف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احفظ Mars.jar في مجلد على جهازك (مثل سطح المكتب)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9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تشغيل MARS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طريقتان لتشغيل البرنامج: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5303520" cy="32004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53312"/>
            <a:ext cx="54864" cy="30540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389888"/>
            <a:ext cx="4937759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✅ الطريقة الأولى: النقر المزدوج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اذهب إلى المجلد الذي حفظت فيه ملف Mars.jar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انقر نقراً مزدوجاً على الملف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ستفتح واجهة MARS الرئيسية تلقائياً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ملاحظة: تأكد من ارتباط ملفات .jar مع Java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💡 إذا لم يعمل: انقر بزر الماوس الأيمن → Open With → Java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303520" cy="3200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53312"/>
            <a:ext cx="54864" cy="30540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89888"/>
            <a:ext cx="4937759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✅ الطريقة الثانية: سطر الأوامر (Terminal)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افتح Terminal / Command Prompt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انتقل إلى مجلد Mars.jar: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  cd /path/to/mars/folder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شغّل الأمر: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  java -jar Mars.jar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💡 يمكنك إنشاء اختصار (Shortcut) للملف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54880"/>
            <a:ext cx="10972800" cy="118872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828032"/>
            <a:ext cx="54864" cy="10424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864608"/>
            <a:ext cx="1060704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❌ مشكلة شائعة: 'Java not found'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الحل: ثبّت Java من java.com وأعد تشغيل MARS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إذا استمرت المشكلة: أعد تشغيل الجهاز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10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اختبار تشغيل MARS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بعد تشغيل MARS لأول مرة، ستظهر الواجهة الرئيسية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88720"/>
            <a:ext cx="10972800" cy="41148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261872"/>
            <a:ext cx="54864" cy="39684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98448"/>
            <a:ext cx="1060704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ماذا ترى عند فتح MARS لأول مرة؟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1️⃣  محرر النصوص (Editor) — المساحة البيضاء الكبيرة على اليمين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2️⃣  نافذة المسجلات (Registers) — على اليسار، تظهر 32 مسجلاً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3️⃣  قائمة الأدوات (Menu Bar) — File, Edit, Run, Tools, Help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4️⃣  شريط الأدوات (Toolbar) — أزرار سريعة: Assemble, Run, Step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5️⃣  نافذة الإخراج (Run I/O) — في الأسفل، لعرض المخرجات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🔔 الواجهة باللغة الإنجليزية — لا يدعم العربية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86400"/>
            <a:ext cx="10972800" cy="6400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559552"/>
            <a:ext cx="54864" cy="4937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596128"/>
            <a:ext cx="1060704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📌 ملاحظة مهمة: إذا لم تظهر نافذة المسجلات، اذهب إلى Tools → Show/Hide Registers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iro"/>
              </a:defRPr>
            </a:pPr>
            <a:r>
              <a:t>جولة في واجهة MARS</a:t>
            </a:r>
            <a:br/>
            <a:r>
              <a:t>MARS Interface Tour</a:t>
            </a:r>
          </a:p>
        </p:txBody>
      </p:sp>
      <p:pic>
        <p:nvPicPr>
          <p:cNvPr id="4" name="Picture 3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9319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12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محرر النصوص (Editor)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المكان الذي تكتب فيه كود MIPS Assembly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88720"/>
            <a:ext cx="5303520" cy="347472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261872"/>
            <a:ext cx="54864" cy="3328415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98448"/>
            <a:ext cx="4937759" cy="3255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📝 مميزات المحرر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تمييز الألوان (Syntax Highlighting): ألوان مختلفة للتعليمات، البيانات، والتعليقات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ترقيم الأسطر (Line Numbers): يساعد في تحديد موقع الأخطاء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إكمال الأقواس (Bracket Matching): يظلل القوس المغلق تلقائياً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علامات التبويب (Tabs): فتح عدة ملفات في نفس الوقت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بحث واستبدال (Find &amp; Replace): Ctrl+F للبحث، Ctrl+H للاستبدال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303520" cy="41148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61872"/>
            <a:ext cx="54864" cy="396849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4937759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FFFFFF"/>
                </a:solidFill>
                <a:latin typeface="Cairo"/>
              </a:defRPr>
            </a:pPr>
            <a:r>
              <a:t>📄 مثال: كيف يبدو الكود في المحرر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# This is a comment</a:t>
            </a:r>
            <a:br/>
            <a:r>
              <a:t>.data</a:t>
            </a:r>
            <a:br/>
            <a:r>
              <a:t>msg:  .asciiz "Hello"</a:t>
            </a:r>
            <a:br/>
            <a:r>
              <a:t>.text</a:t>
            </a:r>
            <a:br/>
            <a:r>
              <a:t>main:</a:t>
            </a:r>
            <a:br/>
            <a:r>
              <a:t>  li $v0, 4</a:t>
            </a:r>
            <a:br/>
            <a:r>
              <a:t>  la $a0, msg</a:t>
            </a:r>
            <a:br/>
            <a:r>
              <a:t>  syscall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FFFFFF"/>
                </a:solidFill>
                <a:latin typeface="Cairo"/>
              </a:defRPr>
            </a:pPr>
            <a:r>
              <a:t>🔵 التعليمات باللون الأزرق  🟢 السلاسل النصية باللون الأخضر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airo"/>
              </a:defRPr>
            </a:pPr>
            <a:r>
              <a:t>⚫ التعليقات باللون الرمادي  🟡 Labels باللون الذهبي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13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نافذة المسجلات (Registers)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تعرض قيم جميع المسجلات الـ 32 بشكل فوري — تتغير أثناء التنفيذ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88720"/>
            <a:ext cx="5303520" cy="2286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261872"/>
            <a:ext cx="54864" cy="21396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98448"/>
            <a:ext cx="49377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📊 ماذا ترى في نافذة المسجلات؟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اسم المسجل (Register Name): $zero, $t0, $s0, $a0, ...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القيمة (Value): الرقم المخزن في المسجل بالنظام الست عشري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التحديث الفوري: تتغير القيم بعد تنفيذ كل تعليمة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الألوان: يتم تمييز القيم التي تغيرت مؤخراً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61872"/>
            <a:ext cx="54864" cy="21396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49377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🔍 ماذا يمكنك فعلها؟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مراقبة تغير القيم أثناء تنفيذ البرنامج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التأكد من صحة العمليات الحسابية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اكتشاف الأخطاء: قيمة غير متوقعة = خطأ في الكود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تعديل قيمة مسجل يدوياً للاختبار (نقر مزدوج)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10972800" cy="6400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22191"/>
            <a:ext cx="54864" cy="4937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1060704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💡 نصيحة: استخدم Step (F7) بدلاً من Run (F5) عند تتبع المسجلات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63440"/>
            <a:ext cx="10972800" cy="1097280"/>
          </a:xfrm>
          <a:prstGeom prst="roundRect">
            <a:avLst/>
          </a:prstGeom>
          <a:solidFill>
            <a:srgbClr val="FFFDE7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736592"/>
            <a:ext cx="54864" cy="9509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4773168"/>
            <a:ext cx="1060704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🏷️ المسجلات مقسمة حسب الاستخدام: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$t0-$t9: Temporary  |  $s0-$s7: Saved  |  $a0-$a3: Arguments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$v0-$v1: Return Values  |  $zero: Zero (دائماً 0)  |  $sp: Stack Pointer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14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نافذة الذاكرة والإخراج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Memory Segment &amp; Run I/O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88720"/>
            <a:ext cx="5303520" cy="32004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261872"/>
            <a:ext cx="54864" cy="30540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98448"/>
            <a:ext cx="4937759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🗄️ نافذة الذاكرة (Data Segment)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تعرض محتويات الذاكرة — البيانات المعرفة في .data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كل خانة تمثل بايت واحد — كل 4 خانات = كلمة (Word)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العناوين تظهر بالنظام الست عشري (مثل 0x10010000)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يمكن تعديل القيم يدوياً للنقر المزدوج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مفيدة جداً لتتبع المصفوفات والسلاسل النصية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303520" cy="32004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61872"/>
            <a:ext cx="54864" cy="30540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4937759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🖥️ نافذة الإخراج (Run I/O)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تعرض مخرجات البرنامج (طباعة النصوص والأرقام)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يمكن للمستخدم إدخال القيم (قراءة من لوحة المفاتيح)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تظهر رسائل الأخطاء (Errors) هنا أيضاً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تمسح تلقائياً عند كل تشغيل جديد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⌨️ مثال: syscall 1 → يطبع عدداً هنا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⌨️ مثال: syscall 5 → يقرأ رقماً من هنا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10972800" cy="6400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736592"/>
            <a:ext cx="54864" cy="4937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773168"/>
            <a:ext cx="1060704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💡 أظهر نافذة الذاكرة من: Tools → Data Segment Display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15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شريط الأدوات والاختصارات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Toolbar &amp; Keyboard Shortcuts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5303520" cy="100584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53312"/>
            <a:ext cx="54864" cy="8595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389888"/>
            <a:ext cx="4937759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📄 New (F2)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ملف جديد — يفتح محرراً فارغاً جديداً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5303520" cy="100584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53312"/>
            <a:ext cx="54864" cy="85953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389888"/>
            <a:ext cx="4937759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📂 Open (F3)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فتح ملف — يفتح ملف .asm موجود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468880"/>
            <a:ext cx="5303520" cy="100584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542032"/>
            <a:ext cx="54864" cy="85953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2578608"/>
            <a:ext cx="4937759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EAB308"/>
                </a:solidFill>
                <a:latin typeface="Cairo"/>
              </a:defRPr>
            </a:pPr>
            <a:r>
              <a:t>💾 Save (F4)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حفظ — احفظ ملفك الحالي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468880"/>
            <a:ext cx="5303520" cy="100584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542032"/>
            <a:ext cx="54864" cy="8595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578608"/>
            <a:ext cx="4937759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⚙️ Assemble (F3)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تجميع — يحول الكود إلى لغة آلة ويكتشف الأخطاء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57600"/>
            <a:ext cx="5303520" cy="100584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3730752"/>
            <a:ext cx="54864" cy="85953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3767328"/>
            <a:ext cx="4937759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▶️ Run (F5)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تشغيل — ينفذ البرنامج المجمّع حتى النهاية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657600"/>
            <a:ext cx="5303520" cy="100584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730752"/>
            <a:ext cx="54864" cy="85953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767328"/>
            <a:ext cx="4937759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EAB308"/>
                </a:solidFill>
                <a:latin typeface="Cairo"/>
              </a:defRPr>
            </a:pPr>
            <a:r>
              <a:t>👣 Step (F7)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خطوة — ينفذ تعليمة واحدة فقط — الأهم للتعلم!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846320"/>
            <a:ext cx="5303520" cy="100584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19472"/>
            <a:ext cx="54864" cy="8595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956048"/>
            <a:ext cx="4937759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🔄 Reset (F9)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إعادة تعيين — يعيد MARS لحالته الأولية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4846320"/>
            <a:ext cx="5303520" cy="100584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4919472"/>
            <a:ext cx="54864" cy="85953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956048"/>
            <a:ext cx="4937759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EA5E9"/>
                </a:solidFill>
                <a:latin typeface="Cairo"/>
              </a:defRPr>
            </a:pPr>
            <a:r>
              <a:t>⏸️ Pause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إيقاف مؤقت — يوقف التنفيذ مؤقتاً (للحلقات اللانهائية)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iro"/>
              </a:defRPr>
            </a:pPr>
            <a:r>
              <a:t>هيكل برنامج MIPS</a:t>
            </a:r>
            <a:br/>
            <a:r>
              <a:t>MIPS Program Structure</a:t>
            </a:r>
          </a:p>
        </p:txBody>
      </p:sp>
      <p:pic>
        <p:nvPicPr>
          <p:cNvPr id="4" name="Picture 3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9319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17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أقسام برنامج MIPS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كل برنامج MIPS يتكون من قسمين رئيسيين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88720"/>
            <a:ext cx="5303520" cy="41148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261872"/>
            <a:ext cx="54864" cy="39684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98448"/>
            <a:ext cx="4937759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📦 مقطع البيانات (.data)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مكان تعريف المتغيرات والثوابت والسلاسل النصية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توضع في الذاكرة قبل بدء تنفيذ البرنامج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أنواع البيانات: .asciiz, .word, .byte, .space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مثال: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msg:  .asciiz "Hello"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num:  .word   42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🔵 msg و num هما Labels — عناوين في الذاكرة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303520" cy="41148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61872"/>
            <a:ext cx="54864" cy="39684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4937759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⚙️ مقطع النص (.text)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مكان كتابة التعليمات البرمجية (الكود)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يبدأ التنفيذ من label المسمى main: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كل تعليمة تنفذ عملية واحدة: جمع، طباعة، إلخ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مثال: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.text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main: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  li $v0, 4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  la $a0, msg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  syscall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🟢 كل برنامج ينتهي بـ li $v0, 10 + syscall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77840"/>
            <a:ext cx="10972800" cy="6400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650992"/>
            <a:ext cx="54864" cy="4937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687568"/>
            <a:ext cx="1060704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🔑 القاعدة الذهبية: .data للبيانات (تتغير ببطء) — .text للتعليمات (ينفذها المعالج)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18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مسجلات MIPS الـ 32 — نظرة عامة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كل مسجل يحمل 32 بت (4 بايت) — أسرع ذاكرة في المعالج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280160"/>
            <a:ext cx="1371600" cy="45720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353312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المسجل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1280160"/>
            <a:ext cx="1188720" cy="45720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1353312"/>
            <a:ext cx="1005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الاسم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280160"/>
            <a:ext cx="3200400" cy="45720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3533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الاستخدام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280160"/>
            <a:ext cx="3200400" cy="45720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533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Cairo"/>
              </a:defRPr>
            </a:pPr>
            <a:r>
              <a:t>ملاحظات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173736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1810512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$zero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1737360"/>
            <a:ext cx="1188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03120" y="1810512"/>
            <a:ext cx="1005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صفر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1737360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18105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قيمته دائماً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737360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8105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التصفير والمقارنة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2194560"/>
            <a:ext cx="1371600" cy="457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2267712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$t0-$t7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2194560"/>
            <a:ext cx="1188720" cy="457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03120" y="2267712"/>
            <a:ext cx="1005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Temporary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2194560"/>
            <a:ext cx="3200400" cy="457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22677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قيم مؤقتة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194560"/>
            <a:ext cx="3200400" cy="457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22677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لا تحفظ عبر الدوال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265176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2724912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$s0-$s7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2651760"/>
            <a:ext cx="1188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03120" y="2724912"/>
            <a:ext cx="1005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Saved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2651760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1840" y="27249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قيم محفوظة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2651760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27249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تحفظ عبر الدوال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3108960"/>
            <a:ext cx="1371600" cy="457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19" y="3182112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$a0-$a3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0" y="3108960"/>
            <a:ext cx="1188720" cy="457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03120" y="3182112"/>
            <a:ext cx="1005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Argument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3108960"/>
            <a:ext cx="3200400" cy="457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91840" y="31821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معاملات الدوال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3108960"/>
            <a:ext cx="3200400" cy="457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31821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تمرير الباراميترات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356616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19" y="3639312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$v0-$v1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011680" y="3566160"/>
            <a:ext cx="1188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03120" y="3639312"/>
            <a:ext cx="1005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Value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3566160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0" y="36393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القيم المعادة + رقم syscall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3566160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2240" y="36393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نتائج + الخدمات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4023360"/>
            <a:ext cx="1371600" cy="457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19" y="4096512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$sp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0" y="4023360"/>
            <a:ext cx="1188720" cy="457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03120" y="4096512"/>
            <a:ext cx="1005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Stack Ptr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0" y="4023360"/>
            <a:ext cx="3200400" cy="457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91840" y="40965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مؤشر المكدس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4023360"/>
            <a:ext cx="3200400" cy="4572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2240" y="40965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أعلى المكدس (Stack)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4480560"/>
            <a:ext cx="1371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19" y="4553712"/>
            <a:ext cx="1188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$ra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11680" y="4480560"/>
            <a:ext cx="1188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03120" y="4553712"/>
            <a:ext cx="10058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Return Addr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0" y="4480560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91840" y="45537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عنوان العودة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0" y="4480560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92240" y="4553712"/>
            <a:ext cx="30175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للعودة من الدوال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40080" y="5486400"/>
            <a:ext cx="10972800" cy="6400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0080" y="5559552"/>
            <a:ext cx="54864" cy="4937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2959" y="5596128"/>
            <a:ext cx="10607040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💡 $v0 هو أهم مسجل في المحاضرة الحالية — نضع فيه رقم الخدمة (4 = طباعة، 10 = خروج)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19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System Calls — آلية العمل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3 خطوات فقط لاستخدام أي System Call: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3474720" cy="18288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53312"/>
            <a:ext cx="54864" cy="16824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389888"/>
            <a:ext cx="310896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الخطوة 1: li $v0, N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ضع رقم الخدمة في المسجل $v0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4 = طباعة نص  •  1 = طباعة عدد  •  5 = قراءة عدد  •  10 = خروج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280160"/>
            <a:ext cx="3474720" cy="18288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53312"/>
            <a:ext cx="54864" cy="16824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389888"/>
            <a:ext cx="310896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الخطوة 2: تحضير المعاملات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ضع البيانات المطلوبة في $a0 (أو غيره)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مثال: la $a0, msg  ← عنوان النص المراد طباعته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280160"/>
            <a:ext cx="3474720" cy="182880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53312"/>
            <a:ext cx="54864" cy="168249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389888"/>
            <a:ext cx="310896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الخطوة 3: syscall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نفّذ الخدمة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بعد syscall، يتم تنفيذ العملية المطلوبة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474720"/>
            <a:ext cx="914400" cy="36576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520439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Cairo"/>
              </a:defRPr>
            </a:pPr>
            <a:r>
              <a:t>#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3474720"/>
            <a:ext cx="2560320" cy="36576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3520439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الخدمة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3474720"/>
            <a:ext cx="3200400" cy="36576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3520439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المعاملات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3474720"/>
            <a:ext cx="3200400" cy="365760"/>
          </a:xfrm>
          <a:prstGeom prst="rect">
            <a:avLst/>
          </a:prstGeom>
          <a:solidFill>
            <a:srgbClr val="15803D"/>
          </a:solidFill>
          <a:ln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3520439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Cairo"/>
              </a:defRPr>
            </a:pPr>
            <a:r>
              <a:t>النتيجة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840480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877056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3840480"/>
            <a:ext cx="2560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200" y="387705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طباعة عدد صحيح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384048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387705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$a0 = العدد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384048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387705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4206240"/>
            <a:ext cx="9144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242816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554480" y="4206240"/>
            <a:ext cx="256032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00200" y="424281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طباعة سلسلة نصية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14800" y="4206240"/>
            <a:ext cx="32004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60520" y="424281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$a0 = عنوان النص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4206240"/>
            <a:ext cx="32004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0920" y="424281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572000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608576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4572000"/>
            <a:ext cx="2560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460857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قراءة عدد صحيح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0" y="457200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60520" y="460857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457200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60920" y="460857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العدد في $v0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" y="4937760"/>
            <a:ext cx="9144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" y="4974336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554480" y="4937760"/>
            <a:ext cx="256032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0200" y="497433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قراءة سلسلة نصية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0" y="4937760"/>
            <a:ext cx="32004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60520" y="497433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$a0 = عنوان, $a1 = طول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4937760"/>
            <a:ext cx="3200400" cy="347472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60920" y="497433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" y="5303520"/>
            <a:ext cx="914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" y="5340096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554480" y="5303520"/>
            <a:ext cx="256032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600200" y="5340096"/>
            <a:ext cx="2468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خروج من البرنامج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0" y="530352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60520" y="534009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15200" y="5303520"/>
            <a:ext cx="3200400" cy="34747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60920" y="5340096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F172A"/>
                </a:solidFill>
                <a:latin typeface="Cairo"/>
              </a:defRPr>
            </a:pPr>
            <a:r>
              <a:t>—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0080" y="5669280"/>
            <a:ext cx="10972800" cy="54864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" y="5742432"/>
            <a:ext cx="54864" cy="40233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59" y="5779008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⚠️ تذكير: دائماً أنهِ البرنامج بـ syscall 10 — وإلا لن يتوقف MARS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20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تدفق برنامج MIPS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كيف ينفذ المعالج برنامج MIPS خطوة بخطوة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10972800" cy="685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53312"/>
            <a:ext cx="54864" cy="5394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389888"/>
            <a:ext cx="106070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1️⃣ ابدأ من main: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PC (Program Counter) يشير إلى أول تعليمة تحت main: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84831"/>
            <a:ext cx="109728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157984"/>
            <a:ext cx="54864" cy="5394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194560"/>
            <a:ext cx="106070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2️⃣ اقرأ التعليمة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المعالج يقرأ التعليمة من الذاكرة (Fetch)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89504"/>
            <a:ext cx="10972800" cy="685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962656"/>
            <a:ext cx="54864" cy="5394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2999232"/>
            <a:ext cx="106070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3️⃣ فك التشفير (Decode)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المعالج يفهم ماذا تفعل التعليمة (add? syscall?)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94176"/>
            <a:ext cx="109728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767328"/>
            <a:ext cx="54864" cy="5394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803904"/>
            <a:ext cx="106070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4️⃣ نفّذ (Execute)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المعالج ينفذ العملية — جمع، طباعة، إلخ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98848"/>
            <a:ext cx="10972800" cy="6858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572000"/>
            <a:ext cx="54864" cy="5394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608576"/>
            <a:ext cx="106070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5️⃣ انتقل للتالية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PC يزيد بمقدار 4 (كل تعليمة = 4 بايت) ← كرر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03520"/>
            <a:ext cx="109728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376672"/>
            <a:ext cx="54864" cy="5394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" y="5413248"/>
            <a:ext cx="106070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6️⃣ واجه syscall 10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البرنامج ينتهي — MARS يتوقف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iro"/>
              </a:defRPr>
            </a:pPr>
            <a:r>
              <a:t>أول برنامج MIPS</a:t>
            </a:r>
            <a:br/>
            <a:r>
              <a:t>Hello World</a:t>
            </a:r>
          </a:p>
        </p:txBody>
      </p:sp>
      <p:pic>
        <p:nvPicPr>
          <p:cNvPr id="4" name="Picture 3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9319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22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كتابة أول برنامج: Hello World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اتبع الكود والتعليمات خطوة بخطوة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88720"/>
            <a:ext cx="6858000" cy="45720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261872"/>
            <a:ext cx="54864" cy="442569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98448"/>
            <a:ext cx="649224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FBBF24"/>
                </a:solidFill>
                <a:latin typeface="Cairo"/>
              </a:defRPr>
            </a:pPr>
            <a:r>
              <a:t>📝 الكود الكامل (انسخه في MARS)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airo"/>
              </a:defRPr>
            </a:pPr>
            <a:r>
              <a:t># ===========================</a:t>
            </a:r>
            <a:br/>
            <a:r>
              <a:t># أول برنامج MIPS لي</a:t>
            </a:r>
            <a:br/>
            <a:r>
              <a:t># ===========================</a:t>
            </a:r>
            <a:br/>
            <a:r>
              <a:t>.data</a:t>
            </a:r>
            <a:br/>
            <a:r>
              <a:t>msg:  .asciiz "Hello World!\n"</a:t>
            </a:r>
            <a:br/>
            <a:r>
              <a:t>nl:   .asciiz "\n"</a:t>
            </a:r>
            <a:br/>
            <a:br/>
            <a:r>
              <a:t>.text</a:t>
            </a:r>
            <a:br/>
            <a:r>
              <a:t>main:</a:t>
            </a:r>
            <a:br/>
            <a:r>
              <a:t>  li $v0, 4       # syscall 4 = طباعة نص</a:t>
            </a:r>
            <a:br/>
            <a:r>
              <a:t>  la $a0, msg     # $a0 = عنوان النص</a:t>
            </a:r>
            <a:br/>
            <a:r>
              <a:t>  syscall          # نفّذ الطباعة</a:t>
            </a:r>
            <a:br/>
            <a:br/>
            <a:r>
              <a:t>  li $v0, 10      # syscall 10 = خروج</a:t>
            </a:r>
            <a:br/>
            <a:r>
              <a:t>  syscall          # أنهِ البرنامج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188720"/>
            <a:ext cx="3840480" cy="4572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261872"/>
            <a:ext cx="54864" cy="44256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298448"/>
            <a:ext cx="3474720" cy="4352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🔍 شرح الكود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1️⃣ .data — نعرف النصوص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 msg يحوي "Hello World!"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2️⃣ .text — نكتب التعليمات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 main: نقطة البداية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3️⃣ li $v0, 4 — نختار syscall 4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4️⃣ la $a0, msg — نمرر عنوان النص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5️⃣ syscall — ننفّذ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6️⃣ li $v0, 10 — خروج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23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تجميع وتشغيل البرنامج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Assemble (F3) → Run (F5) — أو Step (F7) للتنفيذ خطوة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88720"/>
            <a:ext cx="5303520" cy="228600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261872"/>
            <a:ext cx="54864" cy="213969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98448"/>
            <a:ext cx="49377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⚙️ الخطوة 1: التجميع (Assemble) — F3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يفحص الكود بحثاً عن أخطاء نحوية (Syntax Errors)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إذا وجد خطأ: يظهر رسالة في الأسفل مع رقم السطر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إذا نجح: يظهر "Assemble: operation completed successfully"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يحول الكود إلى لغة الآلة (Machine Code)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61872"/>
            <a:ext cx="54864" cy="21396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49377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▶️ الخطوة 2: التشغيل (Run) — F5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ينفذ البرنامج من البداية إلى النهاية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يظهر الإخراج في نافذة Run I/O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إذا كان هناك خطأ أثناء التنفيذ → يتوقف ويظهر رسالة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لتشغيل أسرع: استخدم Run بدلاً من Step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303520" cy="201168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22191"/>
            <a:ext cx="54864" cy="18653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4937759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👣 الخطوة 3: التنفيذ خطوة (Step) — F7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ينفذ تعليمة واحدة فقط في كل مرة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يمكنك مراقبة تغير المسجلات والذاكرة بعد كل خطوة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الأداة الأهم لفهم كيفية عمل المعالج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استخدمها عندما تريد تتبع سلوك برنامجك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49039"/>
            <a:ext cx="5303520" cy="201168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822191"/>
            <a:ext cx="54864" cy="186537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858768"/>
            <a:ext cx="4937759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🔄 إعادة التعيين (Reset) — F9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يعيد MARS إلى الحالة الأولية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يمسح جميع المسجلات والذاكرة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استخدمه قبل كل تشغيلة جديدة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24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تصحيح الأخطاء (Debugging)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كيف تجد وتصلح الأخطاء في برامج MIPS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88720"/>
            <a:ext cx="5303520" cy="228600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261872"/>
            <a:ext cx="54864" cy="213969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98448"/>
            <a:ext cx="49377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🔴 الأخطاء النحوية (Syntax Errors)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يكتشفها المجمّع أثناء Assemble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تظهر رسالة خطأ مع رقم السطر ونوع الخطأ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أمثلة: نسيان .data، كتابة li بشكل خاطئ، قوس غير مغلق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الحل: اقرأ رسالة الخطأ، اذهب للسطر المذكور، صحّحه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61872"/>
            <a:ext cx="54864" cy="21396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49377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🔵 الأخطاء المنطقية (Logical Errors)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البرنامج يشتغل لكن النتيجة خطأ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المجمّع لا يكتشفها — أنت من تكتشفها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الحل: استخدم Step (F7) وتتبع قيم المسجلات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قارن القيم المتوقعة مع القيم الفعلية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10972800" cy="182880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22191"/>
            <a:ext cx="54864" cy="168249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10607040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🛠️ أدوات التصحيح في MARS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Step (F7): نفّذ تعليمة واحدة ← راقب المسجلات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Breakpoints: ضع نقطة توقف ← شغّل حتى تصل إليها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Set Value: غيّر قيمة مسجل يدوياً لاختبار سيناريو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Data Segment: تحقق من محتويات الذاكرة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💡 ضع Breakpoint بالنقر على رقم السطر (يظهر مربع أحمر)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iro"/>
              </a:defRPr>
            </a:pPr>
            <a:r>
              <a:t>نشاط عملي</a:t>
            </a:r>
            <a:br/>
            <a:r>
              <a:t>Practical Exercise</a:t>
            </a:r>
          </a:p>
        </p:txBody>
      </p:sp>
      <p:pic>
        <p:nvPicPr>
          <p:cNvPr id="4" name="Picture 3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39319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26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النشاط العملي: بطاقة تعريفية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اكتب برنامج MIPS يطبع بطاقة تعريفية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188720"/>
            <a:ext cx="5303520" cy="365760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261872"/>
            <a:ext cx="54864" cy="351129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98448"/>
            <a:ext cx="4937759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📋 المطلوب: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اكتب برنامج MIPS كامل يطبع المعلومات التالية: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1️⃣ الاسم الكامل للطالب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2️⃣ التخصص (Computer Science / Information Technology)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3️⃣ الرقم الجامعي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  4️⃣ الجامعة (Ibb University)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مع إطار (=====) حول البطاقة كما في المثال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188720"/>
            <a:ext cx="5303520" cy="36576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334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61872"/>
            <a:ext cx="54864" cy="3511296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98448"/>
            <a:ext cx="4937759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FBBF24"/>
                </a:solidFill>
                <a:latin typeface="Cairo"/>
              </a:defRPr>
            </a:pPr>
            <a:r>
              <a:t>📤 المخرجات المتوقعة: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airo"/>
              </a:defRPr>
            </a:pPr>
            <a:r>
              <a:t>  # =========================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airo"/>
              </a:defRPr>
            </a:pPr>
            <a:r>
              <a:t>  #  Name: Ahmed Mohammed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airo"/>
              </a:defRPr>
            </a:pPr>
            <a:r>
              <a:t>  #  Major: Computer Science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airo"/>
              </a:defRPr>
            </a:pPr>
            <a:r>
              <a:t>  #  ID: 20241234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airo"/>
              </a:defRPr>
            </a:pPr>
            <a:r>
              <a:t>  #  University: Ibb University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airo"/>
              </a:defRPr>
            </a:pPr>
            <a:r>
              <a:t>  # =========================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airo"/>
              </a:defRPr>
            </a:pPr>
            <a:r>
              <a:t>🕒 المدة: 15 دقيقة</a:t>
            </a:r>
          </a:p>
          <a:p>
            <a:pPr>
              <a:spcBef>
                <a:spcPts val="100"/>
              </a:spcBef>
              <a:defRPr sz="1000">
                <a:solidFill>
                  <a:srgbClr val="E2E8F0"/>
                </a:solidFill>
                <a:latin typeface="Cairo"/>
              </a:defRPr>
            </a:pPr>
            <a:r>
              <a:t>👥 العمل: فردي أو في أزواج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20640"/>
            <a:ext cx="10972800" cy="54864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5193792"/>
            <a:ext cx="54864" cy="402335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230368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💡 تلميحات: استخدم .asciiz لكل سطر • أنهِ كل سطر بـ \n • لا تنس syscall 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27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أخطاء شائعة — تجنبها!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هذه أكثر الأخطاء التي يقع فيها الطلاب في المحاضرة الأولى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5303520" cy="10972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53312"/>
            <a:ext cx="54864" cy="9509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389888"/>
            <a:ext cx="4937759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⛔ نسيان .data أو .text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المجمّع لا يعرف أين يضع البيانات أو التعليمات → خطأ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5303520" cy="10972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353312"/>
            <a:ext cx="54864" cy="9509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389888"/>
            <a:ext cx="4937759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⛔ الخلط بين $a0 و $v0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$v0 = رقم الخدمة (4, 5, 10) • $a0 = المعامل (عنوان النص)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651760"/>
            <a:ext cx="5303520" cy="10972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724912"/>
            <a:ext cx="54864" cy="9509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2761488"/>
            <a:ext cx="4937759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⛔ نسيان syscall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تحديد $v0 و $a0 بدون syscall = لا شيء يحدث!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651760"/>
            <a:ext cx="5303520" cy="10972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24912"/>
            <a:ext cx="54864" cy="9509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761488"/>
            <a:ext cx="4937759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⛔ عدم إنهاء البرنامج بـ syscall 10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MARS يستمر في التنفيذ — قد يعلق أو يعطي نتائج غريبة!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23360"/>
            <a:ext cx="5303520" cy="10972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096512"/>
            <a:ext cx="54864" cy="9509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133088"/>
            <a:ext cx="4937759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⛔ كتابة label بدون 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التسميات يجب أن تنتهي بنقطتين — مثل main: وليس main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23360"/>
            <a:ext cx="5303520" cy="109728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4096512"/>
            <a:ext cx="54864" cy="9509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33088"/>
            <a:ext cx="4937759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DC2626"/>
                </a:solidFill>
                <a:latin typeface="Cairo"/>
              </a:defRPr>
            </a:pPr>
            <a:r>
              <a:t>⛔ استخدام مسافات عوضاً عن Tab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يفضل استخدام Tab للتنظيم — المسافات مقبولة لكن أقل وضوحاً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669280"/>
            <a:ext cx="10972800" cy="548640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742432"/>
            <a:ext cx="54864" cy="402335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779008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✅ القاعدة الذهبية: بعد كتابة أي برنامج → Assemble → إذا نجح → Run → إذا أخطأ → Debug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28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أسئلة للمناقشة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ناقش هذه الأسئلة مع زملائك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airo"/>
              </a:defRPr>
            </a:pPr>
            <a:r>
              <a:t>❓  لماذا نحتاج إلى لغة التجميع (Assembly) إذا كان لدينا لغات سهلة مثل Python و C++؟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57400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16712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airo"/>
              </a:defRPr>
            </a:pPr>
            <a:r>
              <a:t>❓  ما الفرق بين برنامج يكتب بلغة MIPS ونفس البرنامج يكتب بلغة C++ من حيث التنفيذ؟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39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94436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airo"/>
              </a:defRPr>
            </a:pPr>
            <a:r>
              <a:t>❓  ماذا يحدث إذا نسي كتابة syscall 10 في نهاية البرنامج؟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79"/>
            <a:ext cx="109728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21607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airo"/>
              </a:defRPr>
            </a:pPr>
            <a:r>
              <a:t>❓  لماذا نضع المتغيرات في .data بدلاً من .text؟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389120"/>
            <a:ext cx="1097280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49884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airo"/>
              </a:defRPr>
            </a:pPr>
            <a:r>
              <a:t>❓  كيف يعرف MARS أين يبدأ تنفيذ البرنامج؟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29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ملخص المحاضرة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أهم ما تعلمناه اليوم: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10972800" cy="65836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53312"/>
            <a:ext cx="54864" cy="512063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38988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📌 MARS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هو محاكي تعليمي لـ MIPS — يجمع Editor + Assembler + Simulator + Debugger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57400"/>
            <a:ext cx="10972800" cy="658368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130552"/>
            <a:ext cx="54864" cy="512063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16712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📌 هيكل البرنامج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.data للبيانات  |  .text للتعليمات  |  main: نقطة البداية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34639"/>
            <a:ext cx="10972800" cy="65836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907791"/>
            <a:ext cx="54864" cy="512063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294436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📌 System Calls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3 خطوات: li $v0,N → تحضير $a0 → syscall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11879"/>
            <a:ext cx="10972800" cy="658368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685031"/>
            <a:ext cx="54864" cy="512063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721607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📌 المسجلات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$v0 لرقم الخدمة  |  $a0 للمعامل  |  32 مسجلاً مختلفاً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89120"/>
            <a:ext cx="10972800" cy="658368"/>
          </a:xfrm>
          <a:prstGeom prst="roundRect">
            <a:avLst/>
          </a:prstGeom>
          <a:solidFill>
            <a:srgbClr val="DCFCE7"/>
          </a:solidFill>
          <a:ln w="95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462272"/>
            <a:ext cx="54864" cy="512063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498848"/>
            <a:ext cx="10607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15803D"/>
                </a:solidFill>
                <a:latin typeface="Cairo"/>
              </a:defRPr>
            </a:pPr>
            <a:r>
              <a:t>📌 التجميع والتشغيل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Assemble (F3) → Run (F5) → Step (F7) للتصحيح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475569"/>
                </a:solidFill>
                <a:latin typeface="Cairo"/>
              </a:defRPr>
            </a:pPr>
            <a:r>
              <a:t>معمارية الحاسوب - عملي | جامعة إبَّة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5379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475569"/>
                </a:solidFill>
                <a:latin typeface="Cairo"/>
              </a:defRPr>
            </a:pPr>
            <a:r>
              <a:t>30 / 30</a:t>
            </a:r>
          </a:p>
        </p:txBody>
      </p:sp>
      <p:pic>
        <p:nvPicPr>
          <p:cNvPr id="7" name="Picture 6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828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4532D"/>
                </a:solidFill>
                <a:latin typeface="Calibri"/>
              </a:defRPr>
            </a:pPr>
            <a:r>
              <a:t>Ibb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5803D"/>
                </a:solidFill>
                <a:latin typeface="Cairo"/>
              </a:defRPr>
            </a:pPr>
            <a:r>
              <a:t>الواجب المنزلي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iro"/>
              </a:defRPr>
            </a:pPr>
            <a:r>
              <a:t>تسليم الواجب: بداية المحاضرة القادمة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5303520" cy="4114800"/>
          </a:xfrm>
          <a:prstGeom prst="roundRect">
            <a:avLst/>
          </a:prstGeom>
          <a:solidFill>
            <a:srgbClr val="FEF9C3"/>
          </a:solidFill>
          <a:ln w="9525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353312"/>
            <a:ext cx="54864" cy="396849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389888"/>
            <a:ext cx="4937759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CA8A04"/>
                </a:solidFill>
                <a:latin typeface="Cairo"/>
              </a:defRPr>
            </a:pPr>
            <a:r>
              <a:t>📝 الواجب: برنامج بطاقة تعريفية متكامل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اكتب برنامج MIPS يطبع بطاقة تعريفية كاملة تحتوي على: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الاسم الرباعي (باللغة العربية أو الإنجليزية)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التخصص والقسم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الرقم الجامعي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الجامعة والكلية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إطار زخرفي (===== أو -----) حول البطاقة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تاريخ اليوم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💡 استخدم .asciiz لكل سطر و \n لسطر جديد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303520" cy="4114800"/>
          </a:xfrm>
          <a:prstGeom prst="roundRect">
            <a:avLst/>
          </a:prstGeom>
          <a:solidFill>
            <a:srgbClr val="E0F2FE"/>
          </a:solidFill>
          <a:ln w="9525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53312"/>
            <a:ext cx="54864" cy="396849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89888"/>
            <a:ext cx="4937759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defRPr sz="1300" b="1">
                <a:solidFill>
                  <a:srgbClr val="0369A1"/>
                </a:solidFill>
                <a:latin typeface="Cairo"/>
              </a:defRPr>
            </a:pPr>
            <a:r>
              <a:t>📚 للاستعداد للمحاضرة القادمة: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راجع: النظام الثنائي، تمثيل الأعداد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شاهد: فيديو تعليمي عن MIPS على YouTube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ثبّت: تأكد من عمل MARS على جهازك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• اقرأ: دليل MIPS الشامل المرفق مع المحاضرة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🏆 التحدي (اختياري):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أضف استعلاماً (Prompt) يطلب من المستخدم إدخال اسمه</a:t>
            </a:r>
          </a:p>
          <a:p>
            <a:pPr>
              <a:spcBef>
                <a:spcPts val="100"/>
              </a:spcBef>
              <a:defRPr sz="1000">
                <a:solidFill>
                  <a:srgbClr val="0F172A"/>
                </a:solidFill>
                <a:latin typeface="Cairo"/>
              </a:defRPr>
            </a:pPr>
            <a:r>
              <a:t>ثم اطبع: "مرحباً يا [الاسم]!"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669280"/>
            <a:ext cx="10972800" cy="548640"/>
          </a:xfrm>
          <a:prstGeom prst="round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73328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iro"/>
              </a:defRPr>
            </a:pPr>
            <a:r>
              <a:t>📩 المحاضرة القادمة: العمليات الحسابية الأساسية (add, sub, addi) — آلة حاسبة بسيطة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