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مرحباً بالطلاب في المحاضرة الأولى لمعمارية الحاسوب - عملي.</a:t>
            </a:r>
          </a:p>
          <a:p>
            <a:r>
              <a:t>نتعرف اليوم على بيئة MARS ولغة التجميع MIPS.</a:t>
            </a:r>
          </a:p>
          <a:p>
            <a:r>
              <a:t>المتطلبات القبلية: النظام الثنائي، تمثيل البيانات، مكونات الحاسوب.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هي الأهداف السبعة للمحاضرة.</a:t>
            </a:r>
          </a:p>
          <a:p>
            <a:r>
              <a:t>نركز على الجانب العملي التطبيقي.</a:t>
            </a:r>
          </a:p>
          <a:p>
            <a:r>
              <a:t>سننتقل من الصفر حتى كتابة برنامج كامل.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هو هيكل المحاضرة الكامل.</a:t>
            </a:r>
          </a:p>
          <a:p>
            <a:r>
              <a:t>سننتقل بين الأقسام بالترتيب.</a:t>
            </a:r>
          </a:p>
          <a:p>
            <a:r>
              <a:t>الوقت التقريبي لكل قسم مذكور. التزم 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هي الأداة الأساسية لهذا المقرر.</a:t>
            </a:r>
          </a:p>
          <a:p>
            <a:r>
              <a:t>صممها الدكتور Pete Sanderson.</a:t>
            </a:r>
          </a:p>
          <a:p>
            <a:r>
              <a:t>تستخدم في جامعات عالمية مثل Stanford و Berkeley.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هو الخيار الأمثل لهذا المقرر.</a:t>
            </a:r>
          </a:p>
          <a:p>
            <a:r>
              <a:t>يمكن الطلاب من رؤية كل ما يحدث داخل المعالج.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تأكد من تثبيت Java قبل المحاضرة.</a:t>
            </a:r>
          </a:p>
          <a:p>
            <a:r>
              <a:t>MARS هو ملف JAR واحد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أشرح كل خطوة على جهاز العرض.</a:t>
            </a:r>
          </a:p>
          <a:p>
            <a:r>
              <a:t>التحميل بسيط — ملف JAR واحد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الطريقة الأولى هي الأسهل للطلاب.</a:t>
            </a:r>
          </a:p>
          <a:p>
            <a:r>
              <a:t>إذا واجهوا مشاكل → الطريقة الثانية.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أشر إلى كل جزء من الواجهة.</a:t>
            </a:r>
          </a:p>
          <a:p>
            <a:r>
              <a:t>هذه أول مرة يرون فيها MARS — اشرح ببطء.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المحرر هو مكان العمل الأساسي.</a:t>
            </a:r>
          </a:p>
          <a:p>
            <a:r>
              <a:t>اشرح الترميز اللوني للطلاب.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نافذة المسجلات هي أقوى أداة تعليمية.</a:t>
            </a:r>
          </a:p>
          <a:p>
            <a:r>
              <a:t>شجع الطلاب على Step ومشاهدة التغيرات.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الذاكرة والإخراج — أدوات أساسية لمراقبة البرنامج.</a:t>
            </a:r>
          </a:p>
          <a:p>
            <a:r>
              <a:t>سنستخدمها بكثرة في المحاضرات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 (Assemble) و F7 (Step) أهم زرين للتعلم.</a:t>
            </a:r>
          </a:p>
          <a:p>
            <a:r>
              <a:t>Step يظهر كيف تتغير المسجلات والذاكرة.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أهم مفهوم في المحاضرة.</a:t>
            </a:r>
          </a:p>
          <a:p>
            <a:r>
              <a:t>شبه .data بجدول و .text بقائمة تعليمات.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احفظ هذه المسجلات — سنستخدمها في كل محاضرة.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خطوات فقط لأي syscall.</a:t>
            </a:r>
          </a:p>
          <a:p>
            <a:r>
              <a:t>أهمها: 4 (طباعة) و 10 (خروج) في هذه المحاضرة.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دورة حياة التعليمات (Instruction Cycle).</a:t>
            </a:r>
          </a:p>
          <a:p>
            <a:r>
              <a:t>في المحاضرات القادمة سنتعمق.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انسخ الكود في MARS واشرح كل سطر.</a:t>
            </a:r>
          </a:p>
          <a:p>
            <a:r>
              <a:t>أشر كيف يربط la $a0, msg بين .data و .text.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أفضل طريقة للتعلم: Step.</a:t>
            </a:r>
          </a:p>
          <a:p>
            <a:r>
              <a:t>أظهر للطلاب تغير $v0 و $a0.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التصحيح مهارة أساسية.</a:t>
            </a:r>
          </a:p>
          <a:p>
            <a:r>
              <a:t>علمها للطلاب منذ البداية.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أعط 15 دقيقة. تجول بين الطلاب. هذا يختبر syscall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الأخطاء طبيعية. شجع الطلاب على عدم الإحباط.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خصص 10 دقائق للنقاش. الأسئلة تختبر الفهم العميق.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لخص النقاط الخمس. تأكد من فهم الجميع.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الواجب يختبر جميع مفاهيم المحاضرة.</a:t>
            </a:r>
          </a:p>
          <a:p>
            <a:r>
              <a:t>شجع الطلاب على Step للتحقق من عمل برنامجهم.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CS 221 — معمارية الحاسوب - عملي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FFFFFF"/>
                </a:solidFill>
                <a:latin typeface="Cairo"/>
              </a:defRPr>
            </a:pPr>
            <a:r>
              <a:t>المحاضرة الأولى</a:t>
            </a:r>
            <a:br/>
            <a:r>
              <a:t>مقدمة إلى MARS وأساسيات MIPS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BF7D0"/>
                </a:solidFill>
                <a:latin typeface="Cairo"/>
              </a:defRPr>
            </a:pPr>
            <a:r>
              <a:t>د. [اسم المحاضر]  •  الفصل الدراسي الأول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86EFAC"/>
                </a:solidFill>
                <a:latin typeface="Cairo"/>
              </a:defRPr>
            </a:pPr>
            <a:r>
              <a:t>جامعة إبَّة — كلية الحاسوب وتقنية المعلومات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أهداف المحاضرة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في نهاية هذه المحاضرة، سيكون الطالب قادراً على: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 /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25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التعرف على بيئة MARS ومكوناتها الأساسية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920239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93852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9202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فهم هيكل برنامج MIPS: .data / .text /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514600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328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14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معرفة أنواع المسجلات الـ 32 واستخداماتها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108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استخدام System Calls للطباعة والإدخال والخروج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03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كتابة وتجميع وتشغيل أول برنامج MIPS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315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297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F172A"/>
                </a:solidFill>
                <a:latin typeface="Cairo"/>
              </a:defRPr>
            </a:pPr>
            <a:r>
              <a:t>استخدام Debugger لتتبع التنفيذ خطوة بخطوة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جدول المحتويات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مدة المحاضرة: ساعتان (120 دقيقة)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3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18872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إعداد بيئة العمل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508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تحميل وتثبيت MARS — المتطلبات والتشغيل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65960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011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التعرف على واجهة MARS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جولة في المحرر، المسجلات، الذاكرة، الإخراج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4320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هيكل برنامج MIPS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632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.data / .text / Labels / التسميات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20439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11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566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المسجلات و System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84047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أنواع المسجلات — آلية syscall — خدمات الطباعة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أول برنامج MIPS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177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كتابة Hello World — تجميع — تشغيل — Debug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74920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66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5803D"/>
                </a:solidFill>
                <a:latin typeface="Cairo"/>
              </a:defRPr>
            </a:pPr>
            <a:r>
              <a:t>نشاط عملي + تقييم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3949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475569"/>
                </a:solidFill>
                <a:latin typeface="Cairo"/>
              </a:defRPr>
            </a:pPr>
            <a:r>
              <a:t>تطبيق بطاقة تعريفية — أسئلة — واجب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475569"/>
                </a:solidFill>
                <a:latin typeface="Cairo"/>
              </a:defRPr>
            </a:pPr>
            <a:r>
              <a:t>⏱  10 د  │  15 د  │  15 د  │  15 د  │  25 د  │  25 د  │  15 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iro"/>
              </a:defRPr>
            </a:pPr>
            <a:r>
              <a:t>إعداد بيئة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Environment Setup — تحميل وتثبيت MARS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ما هي بيئة MARS؟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MIPS Assembler and Runtime Simulator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5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280160"/>
            <a:ext cx="5303520" cy="1828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35024"/>
            <a:ext cx="45720" cy="17190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353312"/>
            <a:ext cx="50292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التعريف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MARS هو محاكي تعليمي لمعالج MIPS،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يجمع بين محرر نصوص + مجمّع + محاكي + Debugger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صمم خصيصاً لتدريس معمارية الحاسوب في الجامعات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35024"/>
            <a:ext cx="45720" cy="21762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35331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لماذا MARS؟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مجاني ومفتوح المصدر — لا حاجة لترخيص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يعمل على Windows / macOS / Linux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واجهة بسيطة مناسبة للطلاب المبتدئين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Debugger قوي لتتبع المسجلات والذاكرة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10972800" cy="22860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38144"/>
            <a:ext cx="45720" cy="21762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456432"/>
            <a:ext cx="1069848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المكونات الرئيسية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📝  محرر نصوص (Editor): كتابة الكود مع تمييز الألوان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⚙️  مجمّع (Assembler): تحويل الكود → لغة آلة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🖥️  محاكي (Simulator): تنفيذ التعليمات على معالج افتراضي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🔍  مصحح (Debugger): تنفيذ خطوة بخطوة + تتبع Registers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لماذا MARS في هذا المقرر؟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6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80160"/>
            <a:ext cx="3474720" cy="2011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35024"/>
            <a:ext cx="45720" cy="19019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35331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🎯  تعليمي بحت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مصمم خصيصاً للتعليم الجامعي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280160"/>
            <a:ext cx="34747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335024"/>
            <a:ext cx="45720" cy="1901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35331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🔍  Debug مرئي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رؤية تغير المسجلات أثناء التنفيذ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280160"/>
            <a:ext cx="34747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335024"/>
            <a:ext cx="45720" cy="19019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35331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🧪  محاكاة دقيقة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نفس سلوك معالج MIPS الحقيقي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12463"/>
            <a:ext cx="45720" cy="19019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73075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💻  متعدد المنصات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Windows / macOS / Linux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657600"/>
            <a:ext cx="34747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712463"/>
            <a:ext cx="45720" cy="1901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73075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📚  مرجع عالمي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مستخدم مع كتاب Patterson &amp; Hennessy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57600"/>
            <a:ext cx="34747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712463"/>
            <a:ext cx="45720" cy="19019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3730752"/>
            <a:ext cx="32004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🆓  مجاني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بدون رسوم — للطلاب على أجهزتهم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متطلبات تثبيت MARS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7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8016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35024"/>
            <a:ext cx="45720" cy="21762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35331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💻  متطلبات النظام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نظام التشغيل: Windows 7+ / macOS 10.13+ / Linux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المعالج: أي معالج حديث (x86 أو x64)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الذاكرة: 256 MB RAM (1 GB موصى به)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المساحة: 50 MB فقط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35024"/>
            <a:ext cx="45720" cy="21762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5331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☕  متطلبات البرمجيات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Java Runtime Environment (JRE) 8+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MARS يعمل على Java — يجب تثبيتها أولاً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✅ تحقق من Java في Terminal: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java -version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10972800" cy="1828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95344"/>
            <a:ext cx="45720" cy="17190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13632"/>
            <a:ext cx="106984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📥  روابط التحميل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Java:  https://www.java.com/download/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MARS:  https://courses.missouristate.edu/kenvollmar/mars/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نسخة محمولة — تشغيل بدون تثبيت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خطوات تحميل MARS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8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80160"/>
            <a:ext cx="1097280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35024"/>
            <a:ext cx="45720" cy="89611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353312"/>
            <a:ext cx="106984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1: تأكد من Java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java -version في Terminal</a:t>
            </a:r>
            <a:br/>
            <a:r>
              <a:t>إذا لم يكن مثبتاً → java.com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10972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23744"/>
            <a:ext cx="45720" cy="89611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542032"/>
            <a:ext cx="106984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2: افتح موقع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courses.missouristate.edu/kenvollmar/mars/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1097280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12463"/>
            <a:ext cx="45720" cy="89611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106984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3: حمّل الملف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انقر Mars_4_5.jar (أو أحدث إصدار)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972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01184"/>
            <a:ext cx="45720" cy="89611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919472"/>
            <a:ext cx="106984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4: احفظ في مجلد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احفظ Mars.jar في Desktop أو مجلد مخصص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تشغيل MARS — طريقتان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9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80160"/>
            <a:ext cx="5303520" cy="27432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35024"/>
            <a:ext cx="45720" cy="2633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353312"/>
            <a:ext cx="502920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✅  الطريقة الأولى: النقر المزدوج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اذهب لمجلد Mars.jar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انقر نقراً مزدوجاً على الملف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ستفتح واجهة MARS تلقائياً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إذا لم يعمل: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Click Right → Open With → 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27432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35024"/>
            <a:ext cx="45720" cy="2633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53312"/>
            <a:ext cx="502920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✅  الطريقة الثانية: Terminal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افتح Terminal / CMD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انتقل للمجلد:  cd path/to/mars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شغّل:  java -jar Mars.jar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أنشئ اختصار (Shortcut) للملف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972800" cy="118872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52544"/>
            <a:ext cx="45720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370832"/>
            <a:ext cx="1069848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❌  مشكلة شائعة: 'Java not found'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الحل: ثبّت Java من java.com ← أعد تشغيل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إذا استمرت: أعد تشغيل الجهاز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اختبار تشغيل MARS — أول إطلاق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10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10972800" cy="3657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3547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1069848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🖥️  ماذا ترى عند فتح MARS لأول مرة؟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1️⃣  محرر النصوص — المساحة البيضاء الكبيرة (يمين)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2️⃣  نافذة المسجلات — على اليسار (32 مسجلاً)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3️⃣  شريط القوائم — File · Edit · Run · Tools · Help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4️⃣  شريط الأدوات — Assemble · Run · Step · Reset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5️⃣  نافذة الإخراج — أسفل الشاشة (Run I/O)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🔔 الواجهة باللغة الإنجليزية — لا تدعم العربية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175503"/>
            <a:ext cx="45720" cy="5303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5193792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📌  إذا لم تظهر نافذة المسجلات → Tools → Show/Hide Registers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iro"/>
              </a:defRPr>
            </a:pPr>
            <a:r>
              <a:t>جولة في واجهة MARS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Interface Tour — Editor · Registers · Memory ·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محرر النصوص (Editor) — جولة تفصيلية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12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303520" cy="27432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2633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502920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📝  مميزات المحرر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تمييز الألوان (Syntax Highlighting)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ترقيم الأسطر — يساعد في تحديد موقع الأخطاء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علامات تبويب — فتح عدة ملفات معاً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بحث واستبدال (Ctrl+F / Ctrl+H)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إكمال الأقواس — يظلل القوس المغلق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41148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43584"/>
            <a:ext cx="45720" cy="40050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61872"/>
            <a:ext cx="502920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onsolas"/>
              </a:defRPr>
            </a:pPr>
            <a:r>
              <a:t># This is a comment — رمادي</a:t>
            </a:r>
            <a:br/>
            <a:r>
              <a:t>.data</a:t>
            </a:r>
            <a:br/>
            <a:r>
              <a:t>msg:  .asciiz "Hello World"</a:t>
            </a:r>
            <a:br/>
            <a:r>
              <a:t>.text</a:t>
            </a:r>
            <a:br/>
            <a:r>
              <a:t>main:</a:t>
            </a:r>
            <a:br/>
            <a:r>
              <a:t>  li   $v0, 4     # print_str</a:t>
            </a:r>
            <a:br/>
            <a:r>
              <a:t>  la   $a0, msg</a:t>
            </a:r>
            <a:br/>
            <a:r>
              <a:t>  syscall</a:t>
            </a:r>
            <a:br/>
            <a:r>
              <a:t>  li   $v0, 10    # exit</a:t>
            </a:r>
            <a:br/>
            <a:r>
              <a:t>  syscall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5303520" cy="73152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61103"/>
            <a:ext cx="45720" cy="6217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27939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🔵  تعليمات (أزرق)  •  🟢  نصوص (أخضر)  •  ⚫  تعليقات (رمادي)  •  🟡  Labels (ذهبي)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نافذة المسجلات (Registers)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13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21762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📊  ماذا ترى في نافذة المسجلات؟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اسم المسجل: $zero, $t0, $s0, $a0, $v0, ...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القيمة: الرقم بالنظام الست عشري (Hex)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تحديث فوري — تتغير القيم بعد كل تعليمة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تمييز القيم المتغيرة بالألوان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43584"/>
            <a:ext cx="45720" cy="21762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6187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🔍  ماذا يمكنك فعله؟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مراقبة تغير القيم أثناء التنفيذ (Step)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التأكد من صحة العمليات الحسابية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اكتشاف الأخطاء: قيمة غير متوقعة = خطأ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تعديل قيمة مسجل يدوياً (نقر مزدوج)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03903"/>
            <a:ext cx="45720" cy="5303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822191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 استخدم Step (F7) وليس Run (F5) عند تتبع المسجلات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72800" cy="731520"/>
          </a:xfrm>
          <a:prstGeom prst="roundRect">
            <a:avLst/>
          </a:prstGeom>
          <a:solidFill>
            <a:srgbClr val="FFFDE7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18303"/>
            <a:ext cx="45720" cy="6217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73659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🏷️  تصنيف المسجلات:  $t (مؤقت)  ·  $s (محفوظ)  ·  $a (معاملات)  ·  $v (قيم معادة)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نافذة الذاكرة والإخراج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Memory Segment &amp; Run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14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188720"/>
            <a:ext cx="5303520" cy="27432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45720" cy="2633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261872"/>
            <a:ext cx="502920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🗄️  نافذة الذاكرة (Data Segment)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تعرض محتويات الذاكرة — البيانات من .data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كل خانة = بايت · كل 4 خانات = كلمة (Word)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العناوين بالنظام الست عشري (0x10010000)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تعديل القيم يدوياً ← نقر مزدوج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43584"/>
            <a:ext cx="45720" cy="2633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261872"/>
            <a:ext cx="502920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🖥️  نافذة الإخراج (Run I/O)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تعرض مخرجات الطباعة (نصوص وأرقام)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إدخال القيم من لوحة المفاتيح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تظهر رسائل الأخطاء (Errors)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تمسح تلقائياً عند كل تشغيل جديد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61103"/>
            <a:ext cx="45720" cy="5303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79392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 أظهر نافذة الذاكرة من:  Tools → Data Segment Display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شريط الأدوات والاختصارات الأساسية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15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80160"/>
            <a:ext cx="530352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35024"/>
            <a:ext cx="45720" cy="8046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35331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📄  New (Ctrl+N)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ملف جديد — محرر فارغ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5303520" cy="914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35024"/>
            <a:ext cx="45720" cy="8046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35331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📂  Open (Ctrl+O)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فتح ملف .asm موجود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377439"/>
            <a:ext cx="5303520" cy="9144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432303"/>
            <a:ext cx="45720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450591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💾  Save (Ctrl+S)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حفظ الملف الحالي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377439"/>
            <a:ext cx="530352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432303"/>
            <a:ext cx="45720" cy="8046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50591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⚙️  Assemble (F3)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تجميع ← تحويل الكود للغة آلة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74720"/>
            <a:ext cx="5303520" cy="914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529584"/>
            <a:ext cx="45720" cy="8046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354787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▶️  Run (F5)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تشغيل ← تنفيذ حتى النهاية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474720"/>
            <a:ext cx="5303520" cy="9144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529584"/>
            <a:ext cx="45720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54787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👣  Step (F7)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خطوة ← تنفيذ تعليمة واحدة فقط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72000"/>
            <a:ext cx="530352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626864"/>
            <a:ext cx="45720" cy="8046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464515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🔄  Reset (F9)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إعادة تعيين ← يعيد MARS للحالة الأولية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572000"/>
            <a:ext cx="5303520" cy="914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626864"/>
            <a:ext cx="45720" cy="8046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4645152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⏸️  Pause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إيقاف ← يوقف التنفيذ مؤقتاً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iro"/>
              </a:defRPr>
            </a:pPr>
            <a:r>
              <a:t>هيكل برنامج MIPS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Program Structure — .data / .text /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أقسام برنامج MIPS — .data vs .text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17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303520" cy="4114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40050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502920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📦  .data  —  مقطع البيانات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تعريف المتغيرات والثوابت والسلاسل النصية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تُحجز في الذاكرة قبل تنفيذ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أنواع البيانات: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.asciiz  ←  سلسلة نصية + null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.word    ←  عدد صحيح (4 بايت)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.byte    ←  بايت واحد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.space   ←  حجز مساحة فارغة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4114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43584"/>
            <a:ext cx="45720" cy="40050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61872"/>
            <a:ext cx="502920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⚙️  .text  —  مقطع النص (الكود)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التعليمات البرمجية التي ينفذها المعالج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يبدأ التنفيذ من label: main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كل تعليمة تنفذ عملية واحدة: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li  ← تحميل قيمة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la  ← تحميل عنوان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syscall ← استدعاء نظام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⚠️  أنهِ البرنامج بـ syscall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77840"/>
            <a:ext cx="10972800" cy="54864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632703"/>
            <a:ext cx="45720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650992"/>
            <a:ext cx="10698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🔑  .data للبيانات  ·  .text للتعليمات  ·  main: نقطة البداية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مسجلات MIPS الـ 32 — مرجع كامل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18 /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188720"/>
            <a:ext cx="137160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2618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المسجل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188720"/>
            <a:ext cx="118872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12618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الاسم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88720"/>
            <a:ext cx="320040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261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الاستخدام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320040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61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ملاحظات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6459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17190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16459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17190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صفر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6459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7190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قيمته 0 دائماً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459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190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التصفير والمقارنة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103120"/>
            <a:ext cx="1371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21762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$t0-$t7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103120"/>
            <a:ext cx="11887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21762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Temporary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1031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1762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قيم مؤقتة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031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1762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لا تحفظ عبر الدوال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5603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26334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$s0-$s7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25603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26334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Saved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5603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26334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قيم محفوظة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5603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6334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تحفظ عبر الدوال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19" y="3090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$a0-$a3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3017520"/>
            <a:ext cx="11887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30906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Argument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0175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0906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معاملات الدوال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0175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0906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تمرير الباراميترات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4747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19" y="35478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$v0-$v1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34747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35478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34747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547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القيم المعادة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4747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3547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رقم syscall + نتائج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931920"/>
            <a:ext cx="1371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19" y="40050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$sp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3931920"/>
            <a:ext cx="11887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0" y="40050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Stack Ptr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39319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40050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مؤشر المكدس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9319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40050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أعلى Stack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43891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19" y="44622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$ra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0" y="43891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03120" y="446227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Return Addr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43891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44622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عنوان العودة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43891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44622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للعودة من jal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486400"/>
            <a:ext cx="10972800" cy="54864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" y="5541264"/>
            <a:ext cx="45720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1" y="5559552"/>
            <a:ext cx="10698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 $v0 = رقم الخدمة (4=طباعة, 5=قراءة, 10=خروج)  ·  $a0 = المعامل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System Calls — آلية العمل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19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3474720" cy="13716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12618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①  li $v0, N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اختر رقم الخدمة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188720"/>
            <a:ext cx="3474720" cy="1371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243584"/>
            <a:ext cx="45720" cy="1261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26187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②  جهّز المعاملات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ضع البيانات في $a0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188720"/>
            <a:ext cx="3474720" cy="13716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243584"/>
            <a:ext cx="45720" cy="12618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26187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③ 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نفّذ الخدمة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26080"/>
            <a:ext cx="73152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71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926080"/>
            <a:ext cx="22860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الخدمة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926080"/>
            <a:ext cx="32004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المعاملات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6080"/>
            <a:ext cx="32004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النتيجة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91840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328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29184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3284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طباعة عدد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329184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3284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$a0 = العدد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29184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3284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657600"/>
            <a:ext cx="731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6941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3657600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36941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طباعة نص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65760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$a0 = عنوان النص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65760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023360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0599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402336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17320" y="40599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قراءة عدد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402336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03320" y="4059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02336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4059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العدد في $v0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389120"/>
            <a:ext cx="731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4256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4389120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17320" y="4425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قراءة نص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438912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3320" y="44256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$a0=عنوان, $a1=طول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438912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3720" y="44256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4754880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4791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475488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4791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خروج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0" y="475488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03320" y="4791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475488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3720" y="4791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" y="5724144"/>
            <a:ext cx="4572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1" y="5742432"/>
            <a:ext cx="10698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⚠️  syscall 10 ضروري في نهاية كل برنامج — وإلا لا يتوقف MARS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كيف ينفذ المعالج برنامج MIPS؟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20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1️⃣  ابدأ من main: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PC (Program Counter) يشير لأول تعليمة تحت main: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65960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02082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03911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2️⃣  اقرأ التعليمة (Fetch)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يقرأ التعليمة من الذاكرة (4 بايت)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79806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81635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3️⃣  فك التشفير (Decode)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يفهم نوع التعليمة: add? syscall?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39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575303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593591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4️⃣  نفّذ (Execute)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ينفذ العملية المطلوبة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1097280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5254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37083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5️⃣  انتقل للتالية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PC += 4 ← ارجع للخطوة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109728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129783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514807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6️⃣  واجه syscall 10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البرنامج ينتهي ← MARS يتوقف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iro"/>
              </a:defRPr>
            </a:pPr>
            <a:r>
              <a:t>أول برنامج MIPS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Hello World — Writing · Assembling · Running ·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كتابة أول برنامج: Hello World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22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097280"/>
            <a:ext cx="6858000" cy="50292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152144"/>
            <a:ext cx="45720" cy="4919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170432"/>
            <a:ext cx="6583680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onsolas"/>
              </a:defRPr>
            </a:pPr>
            <a:r>
              <a:t># ===============================</a:t>
            </a:r>
            <a:br/>
            <a:r>
              <a:t>#  أول برنامج MIPS — Hello World</a:t>
            </a:r>
            <a:br/>
            <a:r>
              <a:t># ===============================</a:t>
            </a:r>
            <a:br/>
            <a:r>
              <a:t>.data</a:t>
            </a:r>
            <a:br/>
            <a:r>
              <a:t>msg:   .asciiz "Hello World!\n"</a:t>
            </a:r>
            <a:br/>
            <a:br/>
            <a:r>
              <a:t>.text</a:t>
            </a:r>
            <a:br/>
            <a:r>
              <a:t>main:</a:t>
            </a:r>
            <a:br/>
            <a:r>
              <a:t>  li   $v0, 4     # syscall 4 = print_str</a:t>
            </a:r>
            <a:br/>
            <a:r>
              <a:t>  la   $a0, msg   # $a0 = عنوان النص</a:t>
            </a:r>
            <a:br/>
            <a:r>
              <a:t>  syscall          # نفّذ الطباعة</a:t>
            </a:r>
            <a:br/>
            <a:br/>
            <a:r>
              <a:t>  li   $v0, 10    # syscall 10 = exit</a:t>
            </a:r>
            <a:br/>
            <a:r>
              <a:t>  syscall          # أنهِ البرنامج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097280"/>
            <a:ext cx="3840480" cy="4114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152144"/>
            <a:ext cx="45720" cy="40050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170432"/>
            <a:ext cx="356616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🔍  شرح الكود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1️⃣  .data → msg: .asciiz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2️⃣  .text → main: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3️⃣  li $v0, 4 ← طباعة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4️⃣  la $a0, msg ← عنوان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5️⃣ 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6️⃣  li $v0, 10 ← خروج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394960"/>
            <a:ext cx="384048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5449824"/>
            <a:ext cx="45720" cy="5303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5468112"/>
            <a:ext cx="356616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📥  انسخ الكود في MARS ← Assemble (F3) ← Run (F5)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تجميع وتشغيل — Assemble &amp;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23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21762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50292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⚙️  Assemble (F3) — التجميع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يفحص الكود بحثاً عن أخطاء نحوية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نجح: 'operation completed successfully'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فشل: يظهر رسالة مع رقم السطر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يحول الكود إلى لغة الآلة (0/1)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1828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43584"/>
            <a:ext cx="45720" cy="17190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61872"/>
            <a:ext cx="50292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▶️  Run (F5) — التشغيل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ينفذ البرنامج من البداية للنهاية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يظهر الإخراج في Run I/O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كان هناك خطأ ← يتوقف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53035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03903"/>
            <a:ext cx="45720" cy="19019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822191"/>
            <a:ext cx="50292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👣  Step (F7) — التنفيذ خطوة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ينفذ تعليمة واحدة فقط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راقب المسجلات والذاكرة بعد كل خطوة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الأداة الأهم لفهم طريقة عمل المعالج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303520" cy="10972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03903"/>
            <a:ext cx="45720" cy="9875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22191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🔄  Reset (F9) ← امسح كل شيء قبل كل تشغيلة جديدة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تصحيح الأخطاء — Debugging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24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88720"/>
            <a:ext cx="5303520" cy="20116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243584"/>
            <a:ext cx="45720" cy="1901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261872"/>
            <a:ext cx="50292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🔴  أخطاء نحوية (Syntax 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يكتشفها المجمّع أثناء Assemble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رسالة خطأ + رقم السطر + نوع الخطأ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الحل: اقرأ الرسالة → اذهب للسطر → صحّح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43584"/>
            <a:ext cx="45720" cy="19019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61872"/>
            <a:ext cx="50292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🔵  أخطاء منطقية (Logical 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البرنامج يشتغل لكن النتيجة خطأ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المجمّع لا يكتشفها — أنت من تكتشفها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الحل: Step (F7) + تتبع المسجلات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10972800" cy="1828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45720" cy="17190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547872"/>
            <a:ext cx="106984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🛠️  أدوات التصحيح في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Step (F7): تنفيذ تعليمة ← مراقبة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Breakpoints: نقطة توقف ← تشغيل حتى الوصول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Set Value: تعديل مسجل يدوياً للاختبار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Data Segment: فحص محتويات الذاكرة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iro"/>
              </a:defRPr>
            </a:pPr>
            <a:r>
              <a:t>نشاط عملي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A7F3D0"/>
                </a:solidFill>
                <a:latin typeface="Cairo"/>
              </a:defRPr>
            </a:pPr>
            <a:r>
              <a:t>Practical Exercise — بطاقة تعريفية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النشاط العملي: بطاقة تعريفية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15 دقيقة — فردي أو في أزواج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26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35024"/>
            <a:ext cx="45720" cy="3090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353312"/>
            <a:ext cx="502920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📋  المطلوب: برنامج MIPS يطبع بطاقة تعريفية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1️⃣  الاسم الكامل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2️⃣  التخصص (Computer Science / IT)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3️⃣  الرقم الجامعي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4️⃣  الجامعة (Ibb University)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5️⃣  إطار ===== حول البطاقة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03520" cy="32004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35024"/>
            <a:ext cx="45720" cy="3090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353312"/>
            <a:ext cx="502920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onsolas"/>
              </a:defRPr>
            </a:pPr>
            <a:r>
              <a:t># المخرجات المتوقعة:</a:t>
            </a:r>
            <a:br/>
            <a:r>
              <a:t># =================================</a:t>
            </a:r>
            <a:br/>
            <a:r>
              <a:t>#  Name: Ahmed Mohammed</a:t>
            </a:r>
            <a:br/>
            <a:r>
              <a:t>#  Major: Computer Science</a:t>
            </a:r>
            <a:br/>
            <a:r>
              <a:t>#  ID: 20241234</a:t>
            </a:r>
            <a:br/>
            <a:r>
              <a:t>#  University: Ibb University</a:t>
            </a:r>
            <a:br/>
            <a:r>
              <a:t># =================================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80"/>
            <a:ext cx="10972800" cy="6400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09744"/>
            <a:ext cx="45720" cy="5303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828032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💡  .asciiz لكل سطر  ·  \n لسطر جديد  ·  syscall 10 في النهاية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أخطاء شائعة — تجنبها!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أكثر الأخطاء في المحاضرة الأولى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27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18872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261872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نسيان .data أو .text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المجمّع لا يعرف أين يضع البيانات ← خطأ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43584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261872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الخلط بين $a0 و $v0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 = رقم الخدمة  ·  $a0 = المعامل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6888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523744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542032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نسيان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بدون syscall = لا شيء يحدث!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6888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23744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542032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عدم إنهاء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بدون syscall 10 ← MARS لا يتوقف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39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03903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822191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label بدون 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main: وليس main — النقطتان ضروريتان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749039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803903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822191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 مسافات عوضاً عن Tab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استخدم Tab للتنظيم — أكثر وضوحاً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أسئلة للمناقشة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ناقش مع زملائك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28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280160"/>
            <a:ext cx="10972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0F172A"/>
                </a:solidFill>
                <a:latin typeface="Cairo"/>
              </a:defRPr>
            </a:pPr>
            <a:r>
              <a:t>❓  لماذا نحتاج لغة التجميع إذا كان لدينا Python و C++؟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03120"/>
            <a:ext cx="109728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0F172A"/>
                </a:solidFill>
                <a:latin typeface="Cairo"/>
              </a:defRPr>
            </a:pPr>
            <a:r>
              <a:t>❓  ما الفرق بين برنامج MIPS ونفس البرنامج بلغة C++؟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10972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0F172A"/>
                </a:solidFill>
                <a:latin typeface="Cairo"/>
              </a:defRPr>
            </a:pPr>
            <a:r>
              <a:t>❓  ماذا يحدث إذا نسيت syscall 10 في نهاية البرنامج؟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109728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0F172A"/>
                </a:solidFill>
                <a:latin typeface="Cairo"/>
              </a:defRPr>
            </a:pPr>
            <a:r>
              <a:t>❓  لماذا نضع المتغيرات في .data بدلاً من .text؟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ملخص المحاضرة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أهم ما تعلمناه اليوم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29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188720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26187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 بيئة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محاكي تعليمي لـ MIPS — Editor + Assembler + Simulator + Debugger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965960"/>
            <a:ext cx="10972800" cy="65836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02082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203911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 هيكل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.data للبيانات  ·  .text للتعليمات  ·  main: البداية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79806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81635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 System Calls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li $v0,N → تحضير $a0 → syscall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20439"/>
            <a:ext cx="10972800" cy="65836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575303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593591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 المسجلات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 = رقم الخدمة  ·  $a0 = المعامل  ·  32 مسجلاً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52544"/>
            <a:ext cx="4572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4370832"/>
            <a:ext cx="106984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 التجميع والتشغيل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Assemble (F3) → Run (F5) → Step (F7)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5803D"/>
                </a:solidFill>
                <a:latin typeface="Cairo"/>
              </a:defRPr>
            </a:pPr>
            <a:r>
              <a:t>الواجب المنزلي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77240"/>
            <a:ext cx="274320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475569"/>
                </a:solidFill>
                <a:latin typeface="Cairo"/>
              </a:defRPr>
            </a:pPr>
            <a:r>
              <a:t>تسليم: بداية المحاضرة القادمة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9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Cairo"/>
              </a:defRPr>
            </a:pPr>
            <a:r>
              <a:t>30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280160"/>
            <a:ext cx="5303520" cy="36576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35024"/>
            <a:ext cx="45720" cy="35478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353312"/>
            <a:ext cx="502920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📝  الواجب: برنامج بطاقة تعريفية متكامل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الاسم الرباعي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التخصص والقسم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الرقم الجامعي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الجامعة والكلية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إطار زخرفي ===== حول البطاقة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تاريخ اليوم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03520" cy="36576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35024"/>
            <a:ext cx="45720" cy="3547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353312"/>
            <a:ext cx="502920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📚  للاستعداد للمحاضرة القادمة: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راجع النظام الثنائي وتمثيل الأعداد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تأكد من عمل MARS على جهازك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اقرأ دليل MIPS الشامل المرفق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🏆  التحدي (اختياري):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برنامج يطلب اسم المستخدم ثم يطبع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"مرحباً يا [الاسم]!"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iro"/>
              </a:defRPr>
            </a:pPr>
            <a:r>
              <a:t>📩  المحاضرة القادمة: العمليات الحسابية الأساسية (add / sub / addi)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