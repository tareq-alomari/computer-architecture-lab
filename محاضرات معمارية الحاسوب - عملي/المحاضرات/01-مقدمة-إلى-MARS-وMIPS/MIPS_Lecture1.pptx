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246888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7F3D0"/>
                </a:solidFill>
                <a:latin typeface="Cairo"/>
              </a:defRPr>
            </a:pPr>
            <a:r>
              <a:t>CS 221 — Computer Architecture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iro"/>
              </a:defRPr>
            </a:pPr>
            <a:r>
              <a:t>Introduction to MARS &amp; MIPS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FCE7"/>
                </a:solidFill>
                <a:latin typeface="Cairo"/>
              </a:defRPr>
            </a:pPr>
            <a:r>
              <a:t>مقدمة إلى MARS وأساسيات MIPS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F3D0"/>
                </a:solidFill>
                <a:latin typeface="Cairo"/>
              </a:defRPr>
            </a:pPr>
            <a:r>
              <a:t>Instructor: Dr. [Name]  |  Semester 1, 2024-2025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EFAC"/>
                </a:solidFill>
                <a:latin typeface="Cairo"/>
              </a:defRPr>
            </a:pPr>
            <a:r>
              <a:t>Ibb University — College of Computer Science &amp;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Lecture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أهداف المحاضرة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167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07592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07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Understand the MARS simulator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5681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47671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476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Learn the structure of a MIPS program (.data / .text)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968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87751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8775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Identify the 32 MIPS registers and their 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3697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27831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2783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Use System Calls for printing and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770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67911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6791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Write, assemble, and run a MIPS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iro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07992"/>
            <a:ext cx="32004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07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E293B"/>
                </a:solidFill>
                <a:latin typeface="Cairo"/>
              </a:defRPr>
            </a:pPr>
            <a:r>
              <a:t>Use the Step debugger to trace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جدول المحتويات — 120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3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972800" cy="658368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08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Download, install, and run MARS for the first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72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11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MARS Interface 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286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Editor, Registers, Memory, and Output windows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10972800" cy="658368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Program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.data section, .text section,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39"/>
            <a:ext cx="10972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11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66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Registers &amp; System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40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Register types, syscall mechanism, printing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972800" cy="658368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First MIPS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17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Hello World — write, assemble, run, debug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74920"/>
            <a:ext cx="109728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66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Practice &amp;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949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Exercise, discussion, homework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Environment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iro"/>
              </a:defRPr>
            </a:pPr>
            <a:r>
              <a:t>إعداد بيئة العمل — MARS Installation &amp;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What is MARS?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MIPS Assembler and Runtime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5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MARS is an educational simulator for the MIPS processor. It integrates a text editor, assembler, simulator, and debugger into one environment designed specifically for teaching computer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Why MARS?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Free &amp; open-source</a:t>
            </a:r>
            <a:br/>
            <a:r>
              <a:t>• Cross-platform (Win/Mac/Linux)</a:t>
            </a:r>
            <a:br/>
            <a:r>
              <a:t>• Simple interface for beginners</a:t>
            </a:r>
            <a:br/>
            <a:r>
              <a:t>• Built-in step-by-step debugger</a:t>
            </a:r>
            <a:br/>
            <a:r>
              <a:t>• Used by universities worldwide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CA8A04"/>
                </a:solidFill>
                <a:latin typeface="Cairo"/>
              </a:defRPr>
            </a:pPr>
            <a:r>
              <a:t>Key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Editor — Code editor with syntax highlighting</a:t>
            </a:r>
            <a:br/>
            <a:r>
              <a:t>Assembler — Converts assembly to machine code</a:t>
            </a:r>
            <a:br/>
            <a:r>
              <a:t>Simulator — Executes instructions on a virtual MIPS CPU</a:t>
            </a:r>
            <a:br/>
            <a:r>
              <a:t>Debugger — Step through code, watch registers &amp;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Installation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متطلبات التثبيت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6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System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OS: Windows 7+ / macOS 10.13+ / Linux</a:t>
            </a:r>
            <a:br/>
            <a:r>
              <a:t>CPU: Any modern x86 or x64 processor</a:t>
            </a:r>
            <a:br/>
            <a:r>
              <a:t>RAM: 256 MB minimum (1 GB recommended)</a:t>
            </a:r>
            <a:br/>
            <a:r>
              <a:t>Storage: 50 MB free space</a:t>
            </a:r>
            <a:br/>
            <a:r>
              <a:t>Java: JRE 8 or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Download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Java:</a:t>
            </a:r>
            <a:br/>
            <a:r>
              <a:t>https://www.java.com/download/</a:t>
            </a:r>
            <a:br/>
            <a:br/>
            <a:r>
              <a:t>MARS:</a:t>
            </a:r>
            <a:br/>
            <a:r>
              <a:t>https://courses.missouristate.edu/</a:t>
            </a:r>
            <a:br/>
            <a:r>
              <a:t>kenvollmar/mars/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Installation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خطوات التحميل والتثبيت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7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iro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320040" cy="274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2070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5803D"/>
                </a:solidFill>
                <a:latin typeface="Cairo"/>
              </a:defRPr>
            </a:pPr>
            <a:r>
              <a:t>Step 1: Verify Java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Open a terminal and run: java -version</a:t>
            </a:r>
            <a:br/>
            <a:r>
              <a:t>If Java is not installed, download from java.com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iro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14600"/>
            <a:ext cx="320040" cy="274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5803D"/>
                </a:solidFill>
                <a:latin typeface="Cairo"/>
              </a:defRPr>
            </a:pPr>
            <a:r>
              <a:t>Step 2: Download MARS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Visit the official MARS website</a:t>
            </a:r>
            <a:br/>
            <a:r>
              <a:t>Click the download link (Mars_4_5.jar)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iro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59"/>
            <a:ext cx="320040" cy="274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673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5803D"/>
                </a:solidFill>
                <a:latin typeface="Cairo"/>
              </a:defRPr>
            </a:pPr>
            <a:r>
              <a:t>Step 3: Run MARS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Double-click the JAR file</a:t>
            </a:r>
            <a:br/>
            <a:r>
              <a:t>OR run: java -jar Mars.jar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1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iro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19"/>
            <a:ext cx="320040" cy="274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474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5803D"/>
                </a:solidFill>
                <a:latin typeface="Cairo"/>
              </a:defRPr>
            </a:pPr>
            <a:r>
              <a:t>Step 4: First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The MARS main window opens</a:t>
            </a:r>
            <a:br/>
            <a:r>
              <a:t>You're ready to start coding!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MARS Interface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iro"/>
              </a:defRPr>
            </a:pPr>
            <a:r>
              <a:t>جولة في واجهة MARS — Editor · Registers · Memory ·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The Editor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محرر النصوص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9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Syntax highlighting for MIPS instructions</a:t>
            </a:r>
            <a:br/>
            <a:r>
              <a:t>• Line numbering for error tracking</a:t>
            </a:r>
            <a:br/>
            <a:r>
              <a:t>• Multiple tabs for working on several files</a:t>
            </a:r>
            <a:br/>
            <a:r>
              <a:t>• Find &amp; Replace (Ctrl+F / Ctrl+H)</a:t>
            </a:r>
            <a:br/>
            <a:r>
              <a:t>• Brace matching for code blocks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Code Appearance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.data</a:t>
            </a:r>
            <a:br/>
            <a:r>
              <a:t>msg: .asciiz "Hello"</a:t>
            </a:r>
            <a:br/>
            <a:br/>
            <a:r>
              <a:t>.text</a:t>
            </a:r>
            <a:br/>
            <a:r>
              <a:t>main:</a:t>
            </a:r>
            <a:br/>
            <a:r>
              <a:t>  li $v0, 4</a:t>
            </a:r>
            <a:br/>
            <a:r>
              <a:t>  la $a0, msg</a:t>
            </a:r>
            <a:br/>
            <a:r>
              <a:t>  syscall</a:t>
            </a:r>
            <a:br/>
            <a:r>
              <a:t>  li $v0, 10</a:t>
            </a:r>
            <a:br/>
            <a:r>
              <a:t>  syscall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iro"/>
              </a:defRPr>
            </a:pPr>
            <a:r>
              <a:t>Color coding: Instructions in blue, strings in green, comments in gray, labels in gold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The Registers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نافذة المسجلات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10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All 32 registers listed by name</a:t>
            </a:r>
            <a:br/>
            <a:r>
              <a:t>• Current values in hexadecimal</a:t>
            </a:r>
            <a:br/>
            <a:r>
              <a:t>• Real-time updates during execution</a:t>
            </a:r>
            <a:br/>
            <a:r>
              <a:t>• Changed values are highlighted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What You Can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Watch register values change as code runs</a:t>
            </a:r>
            <a:br/>
            <a:r>
              <a:t>• Verify arithmetic operations</a:t>
            </a:r>
            <a:br/>
            <a:r>
              <a:t>• Spot errors (unexpected values)</a:t>
            </a:r>
            <a:br/>
            <a:r>
              <a:t>• Edit register values manually for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A8A04"/>
                </a:solidFill>
                <a:latin typeface="Cairo"/>
              </a:defRPr>
            </a:pPr>
            <a:r>
              <a:t>Tip: Use Step (F7) instead of Run (F5) when watching registers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Memory &amp; Output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الذاكرة والإخراج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11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Data Segment (Memory)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Displays the contents of the data section</a:t>
            </a:r>
            <a:br/>
            <a:r>
              <a:t>• Each cell = 1 byte ; 4 cells = 1 word</a:t>
            </a:r>
            <a:br/>
            <a:r>
              <a:t>• Addresses shown in hexadecimal</a:t>
            </a:r>
            <a:br/>
            <a:r>
              <a:t>• Right-click to edit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Run I/O (Output)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• Shows program output (printed text/numbers)</a:t>
            </a:r>
            <a:br/>
            <a:r>
              <a:t>• Input area for reading user values</a:t>
            </a:r>
            <a:br/>
            <a:r>
              <a:t>• Error messages appear here</a:t>
            </a:r>
            <a:br/>
            <a:r>
              <a:t>• Clears automatically on each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Toolbar &amp; Keyboard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شريط الأدوات والاختصارات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12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303520" cy="502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New (Ctrl+N)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Create a new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5303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Open (Ctrl+O)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Open an existing .asm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5303520" cy="502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Save (Ctrl+S)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42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Save the current 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59"/>
            <a:ext cx="5303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8211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Assemble (F3)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8211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Convert code to machine language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303520" cy="502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221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Run (F5)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221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Execute the program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89120"/>
            <a:ext cx="530352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62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Step (F7)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62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Execute one instruction at a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29199"/>
            <a:ext cx="5303520" cy="5029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023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Reset (F9)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023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iro"/>
              </a:defRPr>
            </a:pPr>
            <a:r>
              <a:t>Reset MARS to its initial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Program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iro"/>
              </a:defRPr>
            </a:pPr>
            <a:r>
              <a:t>هيكل برنامج MIPS — .data · .text ·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MIPS Program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أقسام برنامج MIPS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14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The .data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Purpose: Define variables, constants, and strings</a:t>
            </a:r>
            <a:br/>
            <a:br/>
            <a:r>
              <a:t>Common directives:</a:t>
            </a:r>
            <a:br/>
            <a:r>
              <a:t>  .asciiz — null-terminated string</a:t>
            </a:r>
            <a:br/>
            <a:r>
              <a:t>  .word — 32-bit integer(s)</a:t>
            </a:r>
            <a:br/>
            <a:r>
              <a:t>  .byte — 8-bit value(s)</a:t>
            </a:r>
            <a:br/>
            <a:r>
              <a:t>  .space — reserve empty memory</a:t>
            </a:r>
            <a:br/>
            <a:br/>
            <a:r>
              <a:t>Example:</a:t>
            </a:r>
            <a:br/>
            <a:r>
              <a:t>  msg: .asciiz "Hello"</a:t>
            </a:r>
            <a:br/>
            <a:r>
              <a:t>  num: .word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The .text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Purpose: Write program instructions</a:t>
            </a:r>
            <a:br/>
            <a:br/>
            <a:r>
              <a:t>Execution starts at main:</a:t>
            </a:r>
            <a:br/>
            <a:r>
              <a:t>  .text</a:t>
            </a:r>
            <a:br/>
            <a:r>
              <a:t>  main:</a:t>
            </a:r>
            <a:br/>
            <a:r>
              <a:t>    li $v0, 4</a:t>
            </a:r>
            <a:br/>
            <a:r>
              <a:t>    la $a0, msg</a:t>
            </a:r>
            <a:br/>
            <a:r>
              <a:t>    syscall</a:t>
            </a:r>
            <a:br/>
            <a:br/>
            <a:r>
              <a:t>Always end with:</a:t>
            </a:r>
            <a:br/>
            <a:r>
              <a:t>  li $v0, 10</a:t>
            </a:r>
            <a:br/>
            <a:r>
              <a:t>  syscall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A8A04"/>
                </a:solidFill>
                <a:latin typeface="Cairo"/>
              </a:defRPr>
            </a:pPr>
            <a:r>
              <a:t>Key idea: .data stores data in memory. .text stores instructions for the CPU to execute.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MIPS Register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مرجع المسجلات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15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13716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24358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188720"/>
            <a:ext cx="9144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124358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188720"/>
            <a:ext cx="27432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24358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188720"/>
            <a:ext cx="27432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124358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60020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165506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600200"/>
            <a:ext cx="914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165506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160020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165506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Always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60020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165506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Clearing, comparisons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011680"/>
            <a:ext cx="13716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06654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$t0-$t7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011680"/>
            <a:ext cx="9144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2" y="206654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Temp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01168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9232" y="20665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Temporary values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01168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20665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Not preserved across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42316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1" y="247802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$s0-$s7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423160"/>
            <a:ext cx="914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84832" y="247802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Saved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242316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247802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Saved values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242316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2432" y="247802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Preserved across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834640"/>
            <a:ext cx="13716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1" y="288950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$a0-$a3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2834640"/>
            <a:ext cx="9144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84832" y="288950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Args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283464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9232" y="288950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Function arguments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283464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42432" y="288950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Parameter passing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324612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1" y="330098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$v0-$v1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3246120"/>
            <a:ext cx="914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84832" y="330098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324612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99232" y="330098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Return values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324612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42432" y="330098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Results + syscall number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3657600"/>
            <a:ext cx="13716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1" y="371246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$sp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3657600"/>
            <a:ext cx="9144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84832" y="371246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Stack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365760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9232" y="371246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Stack pointer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3657600"/>
            <a:ext cx="2743200" cy="41148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42432" y="371246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Top of stack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06908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1" y="4123944"/>
            <a:ext cx="1225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$ra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4069080"/>
            <a:ext cx="914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84832" y="4123944"/>
            <a:ext cx="7680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Return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406908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9232" y="41239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Return address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4069080"/>
            <a:ext cx="27432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42432" y="4123944"/>
            <a:ext cx="2596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Used with jal/jr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5803D"/>
                </a:solidFill>
                <a:latin typeface="Cairo"/>
              </a:defRPr>
            </a:pPr>
            <a:r>
              <a:t>Important: $v0 holds the syscall number. $a0 holds the first argument.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System Calls in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استدعاءات النظام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16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5803D"/>
                </a:solidFill>
                <a:latin typeface="Cairo"/>
              </a:defRPr>
            </a:pPr>
            <a:r>
              <a:t>The 3-Step Process: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1. Load service num</a:t>
            </a:r>
            <a:br/>
            <a:r>
              <a:t>li $v0,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2. Set parameters</a:t>
            </a:r>
            <a:br/>
            <a:r>
              <a:t>la $a0,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3. Execute</a:t>
            </a:r>
            <a:br/>
            <a:r>
              <a:t>syscall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64008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80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926080"/>
            <a:ext cx="256032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98094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79" y="2926080"/>
            <a:ext cx="32004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199" y="29809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Arguments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2926080"/>
            <a:ext cx="320040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599" y="29809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iro"/>
              </a:defRPr>
            </a:pPr>
            <a: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6400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375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3291840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333756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Print 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79" y="329184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199" y="33375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$a0 = 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79" y="329184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599" y="33375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57600"/>
            <a:ext cx="64008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703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3657600"/>
            <a:ext cx="256032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37033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Print string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79" y="3657600"/>
            <a:ext cx="320040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199" y="37033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$a0 = address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79" y="3657600"/>
            <a:ext cx="320040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599" y="37033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23360"/>
            <a:ext cx="6400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69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4023360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5880" y="406908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Read 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79" y="402336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199" y="4069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79" y="402336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599" y="40690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int in $v0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389120"/>
            <a:ext cx="64008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4348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0160" y="4389120"/>
            <a:ext cx="256032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25880" y="44348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Read string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79" y="4389120"/>
            <a:ext cx="320040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199" y="44348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$a0,$a1 = buf,len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79" y="4389120"/>
            <a:ext cx="3200400" cy="347472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6599" y="44348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754880"/>
            <a:ext cx="6400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8006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80160" y="4754880"/>
            <a:ext cx="25603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25880" y="480060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Exit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79" y="475488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6199" y="48006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79" y="475488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599" y="48006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E293B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A8A04"/>
                </a:solidFill>
                <a:latin typeface="Cairo"/>
              </a:defRPr>
            </a:pPr>
            <a:r>
              <a:t>Always terminate your program with syscall 10, or MARS will not stop!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Your First MIPS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iro"/>
              </a:defRPr>
            </a:pPr>
            <a:r>
              <a:t>أول برنامج MIPS — Hello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Hello World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برنامج Hello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18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68580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# First MIPS Program</a:t>
            </a:r>
            <a:br/>
            <a:r>
              <a:t># Hello World</a:t>
            </a:r>
            <a:br/>
            <a:br/>
            <a:r>
              <a:t>.data</a:t>
            </a:r>
            <a:br/>
            <a:r>
              <a:t>msg: .asciiz "Hello World!"</a:t>
            </a:r>
            <a:br/>
            <a:br/>
            <a:r>
              <a:t>.text</a:t>
            </a:r>
            <a:br/>
            <a:r>
              <a:t>main:</a:t>
            </a:r>
            <a:br/>
            <a:r>
              <a:t>  li $v0, 4</a:t>
            </a:r>
            <a:br/>
            <a:r>
              <a:t>  la $a0, msg</a:t>
            </a:r>
            <a:br/>
            <a:r>
              <a:t>  syscall</a:t>
            </a:r>
            <a:br/>
            <a:br/>
            <a:r>
              <a:t>  li $v0, 10</a:t>
            </a:r>
            <a:br/>
            <a:r>
              <a:t>  syscall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Code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1. .data section</a:t>
            </a:r>
            <a:br/>
            <a:r>
              <a:t>   msg contains the text</a:t>
            </a:r>
            <a:br/>
            <a:r>
              <a:t>2. .text section</a:t>
            </a:r>
            <a:br/>
            <a:r>
              <a:t>   main: entry point</a:t>
            </a:r>
            <a:br/>
            <a:r>
              <a:t>3. li $v0, 4</a:t>
            </a:r>
            <a:br/>
            <a:r>
              <a:t>   syscall 4 = print string</a:t>
            </a:r>
            <a:br/>
            <a:r>
              <a:t>4. la $a0, msg</a:t>
            </a:r>
            <a:br/>
            <a:r>
              <a:t>   load address of msg</a:t>
            </a:r>
            <a:br/>
            <a:r>
              <a:t>5. syscall</a:t>
            </a:r>
            <a:br/>
            <a:r>
              <a:t>   execute printing</a:t>
            </a:r>
            <a:br/>
            <a:r>
              <a:t>6. li $v0, 10</a:t>
            </a:r>
            <a:br/>
            <a:r>
              <a:t>   syscall 10 = exit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Assemble &amp;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تجميع وتشغيل البرنامج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19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Assemble (F3)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Checks for syntax errors</a:t>
            </a:r>
            <a:br/>
            <a:r>
              <a:t>Converts code to machine language</a:t>
            </a:r>
            <a:br/>
            <a:r>
              <a:t>Shows 'completed successfully'</a:t>
            </a:r>
            <a:br/>
            <a:r>
              <a:t>Or displays errors with line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Run (F5)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Executes from start to finish</a:t>
            </a:r>
            <a:br/>
            <a:r>
              <a:t>Output appears in Run I/O</a:t>
            </a:r>
            <a:br/>
            <a:r>
              <a:t>Stops if runtime error occurs</a:t>
            </a:r>
            <a:br/>
            <a:r>
              <a:t>Fast way to test your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CA8A04"/>
                </a:solidFill>
                <a:latin typeface="Cairo"/>
              </a:defRPr>
            </a:pPr>
            <a:r>
              <a:t>Step (F7)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Executes ONE instruction</a:t>
            </a:r>
            <a:br/>
            <a:r>
              <a:t>Watch registers change</a:t>
            </a:r>
            <a:br/>
            <a:r>
              <a:t>Watch memory update</a:t>
            </a:r>
            <a:br/>
            <a:r>
              <a:t>BEST way to learn!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5803D"/>
                </a:solidFill>
                <a:latin typeface="Cairo"/>
              </a:defRPr>
            </a:pPr>
            <a:r>
              <a:t>Workflow: Write code → Assemble (F3) → Fix errors → Run (F5) → See output → Step (F7) to debug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Debugging in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تصحيح الأخطاء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20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Types of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Syntax Errors: Detected during assemble.</a:t>
            </a:r>
            <a:br/>
            <a:r>
              <a:t>  Fix: Read the error message, go to the line,</a:t>
            </a:r>
            <a:br/>
            <a:r>
              <a:t>  correct the mistake.</a:t>
            </a:r>
            <a:br/>
            <a:br/>
            <a:r>
              <a:t>Logical Errors: Program runs but gives wrong output.</a:t>
            </a:r>
            <a:br/>
            <a:r>
              <a:t>  Fix: Use Step (F7) and trace register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EA5E9"/>
                </a:solidFill>
                <a:latin typeface="Cairo"/>
              </a:defRPr>
            </a:pPr>
            <a:r>
              <a:t>MARS Debugging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iro"/>
              </a:defRPr>
            </a:pPr>
            <a:r>
              <a:t>Step (F7): Execute one instruction, then pause</a:t>
            </a:r>
            <a:br/>
            <a:r>
              <a:t>Breakpoints: Click line number to set a breakpoint</a:t>
            </a:r>
            <a:br/>
            <a:r>
              <a:t>Register Window: Watch values change in real-time</a:t>
            </a:r>
            <a:br/>
            <a:r>
              <a:t>Memory Window: Examine data in memory</a:t>
            </a:r>
            <a:br/>
            <a:r>
              <a:t>Set Value: Right-click a register to change its value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Practice &amp;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F3D0"/>
                </a:solidFill>
                <a:latin typeface="Cairo"/>
              </a:defRPr>
            </a:pPr>
            <a:r>
              <a:t>نشاط عملي — تمارين — واجب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Practical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تمرين: بطاقة تعريفية (15 minutes)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22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CA8A04"/>
                </a:solidFill>
                <a:latin typeface="Cairo"/>
              </a:defRPr>
            </a:pPr>
            <a:r>
              <a:t>Write a MIPS program that prints: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1. Your full name</a:t>
            </a:r>
            <a:br/>
            <a:r>
              <a:t>2. Your major</a:t>
            </a:r>
            <a:br/>
            <a:r>
              <a:t>3. Your student ID</a:t>
            </a:r>
            <a:br/>
            <a:r>
              <a:t>4. Your university</a:t>
            </a:r>
            <a:br/>
            <a:r>
              <a:t>5. A decorative frame (=====)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Expected Output: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EFAC"/>
                </a:solidFill>
                <a:latin typeface="Consolas"/>
              </a:defRPr>
            </a:pPr>
            <a:r>
              <a:t># =====================</a:t>
            </a:r>
            <a:br/>
            <a:r>
              <a:t># Name: Ahmed Mohammed</a:t>
            </a:r>
            <a:br/>
            <a:r>
              <a:t># Major: CS</a:t>
            </a:r>
            <a:br/>
            <a:r>
              <a:t># ID: 20241234</a:t>
            </a:r>
            <a:br/>
            <a:r>
              <a:t># Uni: Ibb University</a:t>
            </a:r>
            <a:br/>
            <a:r>
              <a:t># =====================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Cairo"/>
              </a:defRPr>
            </a:pPr>
            <a:r>
              <a:t>Hints: Use .asciiz for each line. Use \n for newlines. End with syscall 10.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أخطاء شائعة وكيفية تجنبها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23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Missing .data or .text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7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79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Confusing $a0 (argument) with $v0 (service number)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Forgetting syscall after setting up 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5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59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Not terminating the program with syscall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43400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Forgetting the colon after a label (main: not main)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iro"/>
              </a:defRPr>
            </a:pPr>
            <a:r>
              <a:t>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20640"/>
            <a:ext cx="32004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Using spaces instead of tabs for indentation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Discussion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أسئلة للمناقشة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24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Q1: Why do we need assembly language when we have Python and C++?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Q2: What is the difference between a MIPS program and a C++ program at execution level?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Q3: What happens if you forget syscall 10 at the end of your program?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Q4: Why do we put variables in .data instead of .text?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Lecture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ملخص المحاضرة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25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5803D"/>
                </a:solidFill>
                <a:latin typeface="Cairo"/>
              </a:defRPr>
            </a:pPr>
            <a:r>
              <a:t>✓  MARS is an educational MIPS simulator with Editor, Assembler, Simulator, and Debugger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5803D"/>
                </a:solidFill>
                <a:latin typeface="Cairo"/>
              </a:defRPr>
            </a:pPr>
            <a:r>
              <a:t>✓  MIPS programs have two sections: .data (variables) and .text (instructions)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5803D"/>
                </a:solidFill>
                <a:latin typeface="Cairo"/>
              </a:defRPr>
            </a:pPr>
            <a:r>
              <a:t>✓  System calls follow 3 steps: li $v0,N → prepare $a0 → syscall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5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5803D"/>
                </a:solidFill>
                <a:latin typeface="Cairo"/>
              </a:defRPr>
            </a:pPr>
            <a:r>
              <a:t>✓  Use Step (F7) to trace execution — it's the best learning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5803D"/>
                </a:solidFill>
                <a:latin typeface="Cairo"/>
              </a:defRPr>
            </a:pPr>
            <a:r>
              <a:t>✓  Always end your program with syscall 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5803D"/>
                </a:solidFill>
                <a:latin typeface="Cairo"/>
              </a:defRPr>
            </a:pPr>
            <a:r>
              <a:t>Ibb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Cairo"/>
              </a:defRPr>
            </a:pPr>
            <a: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Cairo"/>
              </a:defRPr>
            </a:pPr>
            <a:r>
              <a:t>الواجب المنزلي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iro"/>
              </a:defRPr>
            </a:pPr>
            <a:r>
              <a:t>Computer Architecture Lab — جامعة إبَّة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iro"/>
              </a:defRPr>
            </a:pPr>
            <a:r>
              <a:t>26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A8A04"/>
                </a:solidFill>
                <a:latin typeface="Cairo"/>
              </a:defRPr>
            </a:pPr>
            <a:r>
              <a:t>Assignment: Student ID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Write a MIPS program that prints:</a:t>
            </a:r>
            <a:br/>
            <a:br/>
            <a:r>
              <a:t>1. Your full name</a:t>
            </a:r>
            <a:br/>
            <a:r>
              <a:t>2. Your department</a:t>
            </a:r>
            <a:br/>
            <a:r>
              <a:t>3. Your student ID</a:t>
            </a:r>
            <a:br/>
            <a:r>
              <a:t>4. Your college and university</a:t>
            </a:r>
            <a:br/>
            <a:r>
              <a:t>5. Today's date</a:t>
            </a:r>
            <a:br/>
            <a:r>
              <a:t>6. Decorative frame =====</a:t>
            </a:r>
            <a:br/>
            <a:br/>
            <a:r>
              <a:t>Due: Next 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  <a:latin typeface="Cairo"/>
              </a:defRPr>
            </a:pPr>
            <a:r>
              <a:t>Next Lecture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Topic: Basic Arithmetic Operations</a:t>
            </a:r>
            <a:br/>
            <a:br/>
            <a:r>
              <a:t>add, sub, addi instructions</a:t>
            </a:r>
            <a:br/>
            <a:r>
              <a:t>Reading and printing integers</a:t>
            </a:r>
            <a:br/>
            <a:r>
              <a:t>Building a simple calculator</a:t>
            </a:r>
            <a:br/>
            <a:br/>
            <a:r>
              <a:t>Prepare: Review binary number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5803D"/>
                </a:solidFill>
                <a:latin typeface="Cairo"/>
              </a:defRPr>
            </a:pPr>
            <a:r>
              <a:t>Challenge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97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E293B"/>
                </a:solidFill>
                <a:latin typeface="Cairo"/>
              </a:defRPr>
            </a:pPr>
            <a:r>
              <a:t>Write a program that asks for the user's name, then prints: "Hello, [name]!"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iro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7F3D0"/>
                </a:solidFill>
                <a:latin typeface="Cairo"/>
              </a:defRPr>
            </a:pPr>
            <a:r>
              <a:t>أسئلة؟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6EFAC"/>
                </a:solidFill>
                <a:latin typeface="Cairo"/>
              </a:defRPr>
            </a:pPr>
            <a:r>
              <a:t>Next: Arithmetic Operations — add, sub, addi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F7D0"/>
                </a:solidFill>
                <a:latin typeface="Cairo"/>
              </a:defRPr>
            </a:pPr>
            <a:r>
              <a:t>Ibb University — College of Computer Science &amp;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